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bf14f7e7e24ea2" /><Relationship Type="http://schemas.openxmlformats.org/officeDocument/2006/relationships/extended-properties" Target="/docProps/app.xml" Id="R01594f9a1493442b" /><Relationship Type="http://schemas.openxmlformats.org/officeDocument/2006/relationships/officeDocument" Target="/ppt/presentation.xml" Id="R4820fe96cc3243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c9e5df292e48fb"/>
  </p:sldMasterIdLst>
  <p:notesMasterIdLst>
    <p:notesMasterId xmlns:r="http://schemas.openxmlformats.org/officeDocument/2006/relationships" r:id="Rfc441d232163498f"/>
  </p:notesMasterIdLst>
  <p:sldIdLst>
    <p:sldId xmlns:r="http://schemas.openxmlformats.org/officeDocument/2006/relationships" id="256" r:id="R16c0b0e6feb14ae5"/>
    <p:sldId xmlns:r="http://schemas.openxmlformats.org/officeDocument/2006/relationships" id="257" r:id="Rd4b01831f03c40b7"/>
    <p:sldId xmlns:r="http://schemas.openxmlformats.org/officeDocument/2006/relationships" id="258" r:id="R2d85c38773f044ac"/>
    <p:sldId xmlns:r="http://schemas.openxmlformats.org/officeDocument/2006/relationships" id="259" r:id="Rdd3441dba49d41ae"/>
    <p:sldId xmlns:r="http://schemas.openxmlformats.org/officeDocument/2006/relationships" id="260" r:id="R00f57916b1464e1b"/>
    <p:sldId xmlns:r="http://schemas.openxmlformats.org/officeDocument/2006/relationships" id="261" r:id="Rc8870d045e9c4a77"/>
    <p:sldId xmlns:r="http://schemas.openxmlformats.org/officeDocument/2006/relationships" id="262" r:id="R387a11c538524922"/>
    <p:sldId xmlns:r="http://schemas.openxmlformats.org/officeDocument/2006/relationships" id="263" r:id="R61534f0ee09e48f2"/>
    <p:sldId xmlns:r="http://schemas.openxmlformats.org/officeDocument/2006/relationships" id="264" r:id="R46f92d7cb9a84c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24031c7a264d55" /><Relationship Type="http://schemas.openxmlformats.org/officeDocument/2006/relationships/slideMaster" Target="/ppt/slideMasters/slideMaster1.xml" Id="R7ec9e5df292e48fb" /><Relationship Type="http://schemas.openxmlformats.org/officeDocument/2006/relationships/notesMaster" Target="/ppt/notesMasters/notesMaster1.xml" Id="Rfc441d232163498f" /><Relationship Type="http://schemas.openxmlformats.org/officeDocument/2006/relationships/presProps" Target="/ppt/presProps.xml" Id="R185f3faa87b14330" /><Relationship Type="http://schemas.openxmlformats.org/officeDocument/2006/relationships/tableStyles" Target="/ppt/tableStyles.xml" Id="R61e2be4d83d44683" /><Relationship Type="http://schemas.openxmlformats.org/officeDocument/2006/relationships/slide" Target="/ppt/slides/slide1.xml" Id="R16c0b0e6feb14ae5" /><Relationship Type="http://schemas.openxmlformats.org/officeDocument/2006/relationships/slide" Target="/ppt/slides/slide2.xml" Id="Rd4b01831f03c40b7" /><Relationship Type="http://schemas.openxmlformats.org/officeDocument/2006/relationships/slide" Target="/ppt/slides/slide3.xml" Id="R2d85c38773f044ac" /><Relationship Type="http://schemas.openxmlformats.org/officeDocument/2006/relationships/slide" Target="/ppt/slides/slide4.xml" Id="Rdd3441dba49d41ae" /><Relationship Type="http://schemas.openxmlformats.org/officeDocument/2006/relationships/slide" Target="/ppt/slides/slide5.xml" Id="R00f57916b1464e1b" /><Relationship Type="http://schemas.openxmlformats.org/officeDocument/2006/relationships/slide" Target="/ppt/slides/slide6.xml" Id="Rc8870d045e9c4a77" /><Relationship Type="http://schemas.openxmlformats.org/officeDocument/2006/relationships/slide" Target="/ppt/slides/slide7.xml" Id="R387a11c538524922" /><Relationship Type="http://schemas.openxmlformats.org/officeDocument/2006/relationships/slide" Target="/ppt/slides/slide8.xml" Id="R61534f0ee09e48f2" /><Relationship Type="http://schemas.openxmlformats.org/officeDocument/2006/relationships/slide" Target="/ppt/slides/slide9.xml" Id="R46f92d7cb9a84c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4a74296a494f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be5be277144281" /><Relationship Type="http://schemas.openxmlformats.org/officeDocument/2006/relationships/notesMaster" Target="/ppt/notesMasters/notesMaster1.xml" Id="R7b1dfe2b7aa642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c9dd42501b4467" /><Relationship Type="http://schemas.openxmlformats.org/officeDocument/2006/relationships/notesMaster" Target="/ppt/notesMasters/notesMaster1.xml" Id="Rf107606994ab43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b25918e7fb4d87" /><Relationship Type="http://schemas.openxmlformats.org/officeDocument/2006/relationships/notesMaster" Target="/ppt/notesMasters/notesMaster1.xml" Id="R5555168ce3d94e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f71ce65e7f4916" /><Relationship Type="http://schemas.openxmlformats.org/officeDocument/2006/relationships/notesMaster" Target="/ppt/notesMasters/notesMaster1.xml" Id="R1b2b85db88d74d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cc1c89a678490c" /><Relationship Type="http://schemas.openxmlformats.org/officeDocument/2006/relationships/notesMaster" Target="/ppt/notesMasters/notesMaster1.xml" Id="Re51d6ddd576047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a8de5674c44ff8" /><Relationship Type="http://schemas.openxmlformats.org/officeDocument/2006/relationships/notesMaster" Target="/ppt/notesMasters/notesMaster1.xml" Id="Rb51a613a24094e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468989a2134f33" /><Relationship Type="http://schemas.openxmlformats.org/officeDocument/2006/relationships/notesMaster" Target="/ppt/notesMasters/notesMaster1.xml" Id="R0d0e8f9e382843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2473b3328645ab" /><Relationship Type="http://schemas.openxmlformats.org/officeDocument/2006/relationships/notesMaster" Target="/ppt/notesMasters/notesMaster1.xml" Id="R4ae3b5ffc86144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21b8bc5ad545aa" /><Relationship Type="http://schemas.openxmlformats.org/officeDocument/2006/relationships/notesMaster" Target="/ppt/notesMasters/notesMaster1.xml" Id="Rc4f62bdb6f8240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0:00–0:45. Open with the outcome: PilarPrep prevents customer context from being lost between sales, architecture, and delivery.</a:t>
            </a:r>
          </a:p>
          <a:p xmlns:a="http://schemas.openxmlformats.org/drawingml/2006/main">
            <a:r>
              <a:t>Do not start with AWS services. Start with the handoff problem and promise to show the full loop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0:45–1:45. Explain that the expensive part is not note-taking; it is reinterpretation at every transition.</a:t>
            </a:r>
          </a:p>
          <a:p xmlns:a="http://schemas.openxmlformats.org/drawingml/2006/main">
            <a:r>
              <a:t>Use a short example: sales hears 'move faster,' the SA hears 'modernize,' and delivery receives neither the success metric nor the decision owner.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1:45–2:30. This is the whole product in one slide.</a:t>
            </a:r>
          </a:p>
          <a:p xmlns:a="http://schemas.openxmlformats.org/drawingml/2006/main">
            <a:r>
              <a:t>Loop 1 makes the meeting better. Loop 2 makes the project better. Approval is the boundary that turns draft content into governed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2:30–8:30. Switch to the live application.</a:t>
            </a:r>
          </a:p>
          <a:p xmlns:a="http://schemas.openxmlformats.org/drawingml/2006/main">
            <a:r>
              <a:t>Demo: select PeakCart, show ranked pillars and decision-makers, generate, review the business case and technical brief, apply feedback to one tab, show changed/clean copy, approve, then open the handoff and catch-up experience.</a:t>
            </a:r>
          </a:p>
          <a:p xmlns:a="http://schemas.openxmlformats.org/drawingml/2006/main">
            <a:r>
              <a:t>Keep the demo focused on decisions and workflow, not every field.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PilarPrep live application: https://pilarprep.app/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8:30–10:00. Summarize what judges just saw.</a:t>
            </a:r>
          </a:p>
          <a:p xmlns:a="http://schemas.openxmlformats.org/drawingml/2006/main">
            <a:r>
              <a:t>Call out the refinement contract: complete regeneration of the active brief, contradiction checks, non-target tabs preserved, approval invalidated on change, and a clean/marked-up toggle.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10:00–11:30. Explain the difference between handoff and catch-up.</a:t>
            </a:r>
          </a:p>
          <a:p xmlns:a="http://schemas.openxmlformats.org/drawingml/2006/main">
            <a:r>
              <a:t>Handoff deliberately writes approved project state. Catch-up reads the latest approved packet and project state, then tailors the explanation to the user's role.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11:30–13:00. Explain left to right.</a:t>
            </a:r>
          </a:p>
          <a:p xmlns:a="http://schemas.openxmlformats.org/drawingml/2006/main">
            <a:r>
              <a:t>1) CloudFront serves a React app from a private S3 origin. Cognito supplies temporary credentials and the browser signs API requests with SigV4.</a:t>
            </a:r>
          </a:p>
          <a:p xmlns:a="http://schemas.openxmlformats.org/drawingml/2006/main">
            <a:r>
              <a:t>2) The Jobs Lambda validates scope, writes a job and input pointer, and queues a small SQS message. One worker handles every action; retries and DLQ make long AI calls durable.</a:t>
            </a:r>
          </a:p>
          <a:p xmlns:a="http://schemas.openxmlformats.org/drawingml/2006/main">
            <a:r>
              <a:t>3) Bedrock Nova generates and refines briefs. AgentCore handles the stateful follow-on experience through governed tools. One DynamoDB table holds jobs, project state, approval metadata, and latest pointers; S3 holds latest JSON and DOCX artifacts.</a:t>
            </a:r>
          </a:p>
          <a:p xmlns:a="http://schemas.openxmlformats.org/drawingml/2006/main">
            <a:r>
              <a:t>4) CloudWatch provides logs, metrics, and alarms across the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AWS Architecture Icons: https://aws.amazon.com/architecture/icons/</a:t>
            </a:r>
          </a:p>
          <a:p xmlns:a="http://schemas.openxmlformats.org/drawingml/2006/main">
            <a:r>
              <a:t>- Repository: docs/infrastructure-configuration-breakdown.md</a:t>
            </a:r>
          </a:p>
          <a:p xmlns:a="http://schemas.openxmlformats.org/drawingml/2006/main">
            <a:r>
              <a:t>- Repository: docs/unified-jobs-architecture.md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13:00–14:15. This slide answers 'is it real?'</a:t>
            </a:r>
          </a:p>
          <a:p xmlns:a="http://schemas.openxmlformats.org/drawingml/2006/main">
            <a:r>
              <a:t>Be transparent: the public hackathon demo uses unauthenticated Cognito identities with scoped IAM permissions. The production roadmap replaces this with workforce identity and tenant-bound authorization.</a:t>
            </a:r>
          </a:p>
          <a:p xmlns:a="http://schemas.openxmlformats.org/drawingml/2006/main">
            <a:r>
              <a:t>Avoid quoting exact token prices. Say the main variable cost is model input/output tokens and verify current pricing before the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docs/infrastructure-configuration-breakdown.md</a:t>
            </a:r>
          </a:p>
          <a:p xmlns:a="http://schemas.openxmlformats.org/drawingml/2006/main">
            <a:r>
              <a:t>- AWS pricing should be verified before presentation: https://aws.amazon.com/bedrock/pricing/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14:15–15:00. Close on the transformation, not the technology.</a:t>
            </a:r>
          </a:p>
          <a:p xmlns:a="http://schemas.openxmlformats.org/drawingml/2006/main">
            <a:r>
              <a:t>Suggested final line: 'PilarPrep turns one customer conversation into context the whole team can trust — before the meeting, after the meeting, and when the next person joins.'</a:t>
            </a:r>
          </a:p>
          <a:p xmlns:a="http://schemas.openxmlformats.org/drawingml/2006/main">
            <a:r>
              <a:t>Pause. Invite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PilarPrep: https://pilarprep.app/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7452f418046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39cf3251e54860" /><Relationship Type="http://schemas.openxmlformats.org/officeDocument/2006/relationships/slideLayout" Target="/ppt/slideLayouts/slideLayout1.xml" Id="Refbb5542c98a4c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bb5542c98a4c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c8982789f475f" /><Relationship Type="http://schemas.openxmlformats.org/officeDocument/2006/relationships/notesSlide" Target="/ppt/notesSlides/notesSlide1.xml" Id="Rb6f125ec73ea49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1910e24f3458e" /><Relationship Type="http://schemas.openxmlformats.org/officeDocument/2006/relationships/notesSlide" Target="/ppt/notesSlides/notesSlide2.xml" Id="R27864292f8b74d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eec6211844be5" /><Relationship Type="http://schemas.openxmlformats.org/officeDocument/2006/relationships/notesSlide" Target="/ppt/notesSlides/notesSlide3.xml" Id="R0929142890e247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ad75d01874e35" /><Relationship Type="http://schemas.openxmlformats.org/officeDocument/2006/relationships/image" Target="/ppt/media/image.png" Id="R2826700ada34458d" /><Relationship Type="http://schemas.openxmlformats.org/officeDocument/2006/relationships/notesSlide" Target="/ppt/notesSlides/notesSlide4.xml" Id="R29e26bdbbfc447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e2f31476a4a58" /><Relationship Type="http://schemas.openxmlformats.org/officeDocument/2006/relationships/notesSlide" Target="/ppt/notesSlides/notesSlide5.xml" Id="Re43e9936c52347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2bab2e5754dd8" /><Relationship Type="http://schemas.openxmlformats.org/officeDocument/2006/relationships/notesSlide" Target="/ppt/notesSlides/notesSlide6.xml" Id="R04e76c034e4146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e9bbe75ef4e65" /><Relationship Type="http://schemas.openxmlformats.org/officeDocument/2006/relationships/image" Target="/ppt/media/image2.png" Id="Rdf1e642f5d734418" /><Relationship Type="http://schemas.openxmlformats.org/officeDocument/2006/relationships/image" Target="/ppt/media/image3.png" Id="R2e0decdfbef949b1" /><Relationship Type="http://schemas.openxmlformats.org/officeDocument/2006/relationships/image" Target="/ppt/media/image4.png" Id="R183e62f9bc844f52" /><Relationship Type="http://schemas.openxmlformats.org/officeDocument/2006/relationships/image" Target="/ppt/media/image5.png" Id="R34cec98dc5334f49" /><Relationship Type="http://schemas.openxmlformats.org/officeDocument/2006/relationships/image" Target="/ppt/media/image6.png" Id="Rae6f82107e4842b5" /><Relationship Type="http://schemas.openxmlformats.org/officeDocument/2006/relationships/image" Target="/ppt/media/image7.png" Id="R2d77576a4df84072" /><Relationship Type="http://schemas.openxmlformats.org/officeDocument/2006/relationships/image" Target="/ppt/media/image8.png" Id="R6966da4ba3f44392" /><Relationship Type="http://schemas.openxmlformats.org/officeDocument/2006/relationships/image" Target="/ppt/media/image9.png" Id="R68dc763640d44db5" /><Relationship Type="http://schemas.openxmlformats.org/officeDocument/2006/relationships/image" Target="/ppt/media/image10.png" Id="R975516cda1e14477" /><Relationship Type="http://schemas.openxmlformats.org/officeDocument/2006/relationships/image" Target="/ppt/media/image11.png" Id="R3a3335fbb580440b" /><Relationship Type="http://schemas.openxmlformats.org/officeDocument/2006/relationships/image" Target="/ppt/media/image12.png" Id="R7c6c948ac6df4e78" /><Relationship Type="http://schemas.openxmlformats.org/officeDocument/2006/relationships/image" Target="/ppt/media/image13.png" Id="R80ecd739170d46a5" /><Relationship Type="http://schemas.openxmlformats.org/officeDocument/2006/relationships/image" Target="/ppt/media/image14.png" Id="R047281903b7144cd" /><Relationship Type="http://schemas.openxmlformats.org/officeDocument/2006/relationships/notesSlide" Target="/ppt/notesSlides/notesSlide7.xml" Id="R9a15253b8c304a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d349f50144edf" /><Relationship Type="http://schemas.openxmlformats.org/officeDocument/2006/relationships/notesSlide" Target="/ppt/notesSlides/notesSlide8.xml" Id="R8befe8014ab346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7b59efa374e4a" /><Relationship Type="http://schemas.openxmlformats.org/officeDocument/2006/relationships/notesSlide" Target="/ppt/notesSlides/notesSlide9.xml" Id="R4211dabfff0b4d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62FFF-B3D6-466A-BAF9-DA902E59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FD6E172-CB70-417C-B4AC-12B1D716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EBA"/>
                </a:solidFill>
              </a:defRPr>
            </a:pPr>
            <a:r>
              <a:rPr sz="1350" b="1">
                <a:solidFill>
                  <a:srgbClr val="147EBA"/>
                </a:solidFill>
              </a:rPr>
              <a:t>PILARPREP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9359F0F-7460-4CB3-82EC-CBE42EDA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334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Turn customer discovery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into reusable project context.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FB47A4C3-F848-4487-8666-442B5186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AI-assisted preparation for sales, Solutions Architects, and delivery teams — built on AWS.</a:t>
            </a:r>
          </a:p>
        </p:txBody>
      </p:sp>
      <p:sp>
        <p:nvSpPr>
          <p:cNvPr id="5" name="value-ribbon">
            <a:extLst xmlns:a="http://schemas.openxmlformats.org/drawingml/2006/main">
              <a:ext uri="{FF2B5EF4-FFF2-40B4-BE49-F238E27FC236}">
                <a16:creationId xmlns:a16="http://schemas.microsoft.com/office/drawing/2014/main" id="{D2F29DFE-4F20-423B-975C-0C96A2E8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00150"/>
            <a:ext cx="3486150" cy="4248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6" name="ribbon-kicker">
            <a:extLst xmlns:a="http://schemas.openxmlformats.org/drawingml/2006/main">
              <a:ext uri="{FF2B5EF4-FFF2-40B4-BE49-F238E27FC236}">
                <a16:creationId xmlns:a16="http://schemas.microsoft.com/office/drawing/2014/main" id="{80D9917B-9549-4965-87F5-ADBAA3F6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621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D3FC"/>
                </a:solidFill>
              </a:defRPr>
            </a:pPr>
            <a:r>
              <a:rPr sz="1050" b="1">
                <a:solidFill>
                  <a:srgbClr val="7DD3FC"/>
                </a:solidFill>
              </a:rPr>
              <a:t>ONE CUSTOMER STORY</a:t>
            </a:r>
          </a:p>
        </p:txBody>
      </p:sp>
      <p:sp>
        <p:nvSpPr>
          <p:cNvPr id="7" name="ribbon-main">
            <a:extLst xmlns:a="http://schemas.openxmlformats.org/drawingml/2006/main">
              <a:ext uri="{FF2B5EF4-FFF2-40B4-BE49-F238E27FC236}">
                <a16:creationId xmlns:a16="http://schemas.microsoft.com/office/drawing/2014/main" id="{6AF884AE-3D78-4E79-AB95-CF62941E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24765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Prepare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Refine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Approve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Handoff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5F0E6-121D-4453-BDCF-B4424976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06A"/>
          </a:solidFill>
          <a:ln xmlns:a="http://schemas.openxmlformats.org/drawingml/2006/main" w="0">
            <a:solidFill>
              <a:srgbClr val="43506A"/>
            </a:solidFill>
            <a:prstDash val="solid"/>
          </a:ln>
        </p:spPr>
      </p:sp>
      <p:sp>
        <p:nvSpPr>
          <p:cNvPr id="9" name="ribbon-foot">
            <a:extLst xmlns:a="http://schemas.openxmlformats.org/drawingml/2006/main">
              <a:ext uri="{FF2B5EF4-FFF2-40B4-BE49-F238E27FC236}">
                <a16:creationId xmlns:a16="http://schemas.microsoft.com/office/drawing/2014/main" id="{79102424-856E-4E12-8F9A-0413D3E7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4345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3EF"/>
                </a:solidFill>
              </a:defRPr>
            </a:pPr>
            <a:r>
              <a:rPr sz="1350" b="0">
                <a:solidFill>
                  <a:srgbClr val="D9E3EF"/>
                </a:solidFill>
              </a:rPr>
              <a:t>From pre-meeting signal</a:t>
            </a:r>
          </a:p>
          <a:p xmlns:a="http://schemas.openxmlformats.org/drawingml/2006/main">
            <a:pPr algn="l">
              <a:defRPr sz="1350" b="0">
                <a:solidFill>
                  <a:srgbClr val="D9E3EF"/>
                </a:solidFill>
              </a:defRPr>
            </a:pPr>
            <a:r>
              <a:rPr sz="1350" b="0">
                <a:solidFill>
                  <a:srgbClr val="D9E3EF"/>
                </a:solidFill>
              </a:rPr>
              <a:t>to shared delivery memory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997226B4-1D13-4C73-92AD-AF95BD44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70"/>
                </a:solidFill>
              </a:defRPr>
            </a:pPr>
            <a:r>
              <a:rPr sz="1200" b="1">
                <a:solidFill>
                  <a:srgbClr val="526070"/>
                </a:solidFill>
              </a:rPr>
              <a:t>AWS GenAI Hackathon  •  Live demo</a:t>
            </a:r>
          </a:p>
        </p:txBody>
      </p:sp>
    </p:spTree>
    <p:extLst>
      <p:ext uri="{BB962C8B-B14F-4D97-AF65-F5344CB8AC3E}">
        <p14:creationId xmlns:p14="http://schemas.microsoft.com/office/powerpoint/2010/main" val="1641495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E7BB052-689B-4DDC-B84E-0A6D5F0C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THE GAP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8B78E3-77DF-4054-852F-BCB5BD79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customer story breaks at every handoff.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05B74F0-312C-4C55-B3AC-9B73A989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70"/>
                </a:solidFill>
              </a:defRPr>
            </a:pPr>
            <a:r>
              <a:rPr sz="975" b="1">
                <a:solidFill>
                  <a:srgbClr val="526070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A0A0F-7AAA-40E1-93C9-4AAC84E3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5" name="n0">
            <a:extLst xmlns:a="http://schemas.openxmlformats.org/drawingml/2006/main">
              <a:ext uri="{FF2B5EF4-FFF2-40B4-BE49-F238E27FC236}">
                <a16:creationId xmlns:a16="http://schemas.microsoft.com/office/drawing/2014/main" id="{6F080860-2281-41BA-A872-4ECF8A66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EBA"/>
                </a:solidFill>
              </a:defRPr>
            </a:pPr>
            <a:r>
              <a:rPr sz="1200" b="1">
                <a:solidFill>
                  <a:srgbClr val="147EBA"/>
                </a:solidFill>
              </a:rPr>
              <a:t>01</a:t>
            </a:r>
          </a:p>
        </p:txBody>
      </p:sp>
      <p:sp>
        <p:nvSpPr>
          <p:cNvPr id="6" name="l0">
            <a:extLst xmlns:a="http://schemas.openxmlformats.org/drawingml/2006/main">
              <a:ext uri="{FF2B5EF4-FFF2-40B4-BE49-F238E27FC236}">
                <a16:creationId xmlns:a16="http://schemas.microsoft.com/office/drawing/2014/main" id="{3BAF18F7-097B-4EDA-BCEA-CA8EEC67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Sales discovery</a:t>
            </a:r>
          </a:p>
        </p:txBody>
      </p:sp>
      <p:sp>
        <p:nvSpPr>
          <p:cNvPr id="7" name="d0">
            <a:extLst xmlns:a="http://schemas.openxmlformats.org/drawingml/2006/main">
              <a:ext uri="{FF2B5EF4-FFF2-40B4-BE49-F238E27FC236}">
                <a16:creationId xmlns:a16="http://schemas.microsoft.com/office/drawing/2014/main" id="{F94D30F5-5733-4D06-A904-CB73247D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571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70"/>
                </a:solidFill>
              </a:defRPr>
            </a:pPr>
            <a:r>
              <a:rPr sz="1425" b="0">
                <a:solidFill>
                  <a:srgbClr val="526070"/>
                </a:solidFill>
              </a:rPr>
              <a:t>Business urgency, stakeholders, and commitments live in scattered notes.</a:t>
            </a:r>
          </a:p>
        </p:txBody>
      </p:sp>
      <p:sp>
        <p:nvSpPr>
          <p:cNvPr id="8" name="arrow0">
            <a:extLst xmlns:a="http://schemas.openxmlformats.org/drawingml/2006/main">
              <a:ext uri="{FF2B5EF4-FFF2-40B4-BE49-F238E27FC236}">
                <a16:creationId xmlns:a16="http://schemas.microsoft.com/office/drawing/2014/main" id="{7C1ACDCB-7FB2-48FE-A835-C476DC4E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19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E0E8"/>
                </a:solidFill>
              </a:defRPr>
            </a:pPr>
            <a:r>
              <a:rPr sz="2550" b="1">
                <a:solidFill>
                  <a:srgbClr val="D7E0E8"/>
                </a:solidFill>
              </a:rPr>
              <a:t>→</a:t>
            </a:r>
          </a:p>
        </p:txBody>
      </p:sp>
      <p:sp>
        <p:nvSpPr>
          <p:cNvPr id="9" name="n1">
            <a:extLst xmlns:a="http://schemas.openxmlformats.org/drawingml/2006/main">
              <a:ext uri="{FF2B5EF4-FFF2-40B4-BE49-F238E27FC236}">
                <a16:creationId xmlns:a16="http://schemas.microsoft.com/office/drawing/2014/main" id="{A554A973-3664-4FF4-92B0-FA56C561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900"/>
                </a:solidFill>
              </a:defRPr>
            </a:pPr>
            <a:r>
              <a:rPr sz="1200" b="1">
                <a:solidFill>
                  <a:srgbClr val="FF9900"/>
                </a:solidFill>
              </a:rPr>
              <a:t>02</a:t>
            </a:r>
          </a:p>
        </p:txBody>
      </p:sp>
      <p:sp>
        <p:nvSpPr>
          <p:cNvPr id="10" name="l1">
            <a:extLst xmlns:a="http://schemas.openxmlformats.org/drawingml/2006/main">
              <a:ext uri="{FF2B5EF4-FFF2-40B4-BE49-F238E27FC236}">
                <a16:creationId xmlns:a16="http://schemas.microsoft.com/office/drawing/2014/main" id="{8B4F186C-8342-4169-AC91-50C7ECD2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SA preparation</a:t>
            </a:r>
          </a:p>
        </p:txBody>
      </p:sp>
      <p:sp>
        <p:nvSpPr>
          <p:cNvPr id="11" name="d1">
            <a:extLst xmlns:a="http://schemas.openxmlformats.org/drawingml/2006/main">
              <a:ext uri="{FF2B5EF4-FFF2-40B4-BE49-F238E27FC236}">
                <a16:creationId xmlns:a16="http://schemas.microsoft.com/office/drawing/2014/main" id="{0F504C1B-ED79-4E81-9FFA-9C1317D3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2571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70"/>
                </a:solidFill>
              </a:defRPr>
            </a:pPr>
            <a:r>
              <a:rPr sz="1425" b="0">
                <a:solidFill>
                  <a:srgbClr val="526070"/>
                </a:solidFill>
              </a:rPr>
              <a:t>Architects rebuild context and translate business language into technical questions.</a:t>
            </a:r>
          </a:p>
        </p:txBody>
      </p:sp>
      <p:sp>
        <p:nvSpPr>
          <p:cNvPr id="12" name="arrow1">
            <a:extLst xmlns:a="http://schemas.openxmlformats.org/drawingml/2006/main">
              <a:ext uri="{FF2B5EF4-FFF2-40B4-BE49-F238E27FC236}">
                <a16:creationId xmlns:a16="http://schemas.microsoft.com/office/drawing/2014/main" id="{E84A61A3-B941-404C-B74B-FC6F15B8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7E0E8"/>
                </a:solidFill>
              </a:defRPr>
            </a:pPr>
            <a:r>
              <a:rPr sz="2550" b="1">
                <a:solidFill>
                  <a:srgbClr val="D7E0E8"/>
                </a:solidFill>
              </a:rPr>
              <a:t>→</a:t>
            </a:r>
          </a:p>
        </p:txBody>
      </p:sp>
      <p:sp>
        <p:nvSpPr>
          <p:cNvPr id="13" name="n2">
            <a:extLst xmlns:a="http://schemas.openxmlformats.org/drawingml/2006/main">
              <a:ext uri="{FF2B5EF4-FFF2-40B4-BE49-F238E27FC236}">
                <a16:creationId xmlns:a16="http://schemas.microsoft.com/office/drawing/2014/main" id="{E0C80302-9E02-4B34-899A-8116EF84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EBA"/>
                </a:solidFill>
              </a:defRPr>
            </a:pPr>
            <a:r>
              <a:rPr sz="1200" b="1">
                <a:solidFill>
                  <a:srgbClr val="147EBA"/>
                </a:solidFill>
              </a:rPr>
              <a:t>03</a:t>
            </a:r>
          </a:p>
        </p:txBody>
      </p:sp>
      <p:sp>
        <p:nvSpPr>
          <p:cNvPr id="14" name="l2">
            <a:extLst xmlns:a="http://schemas.openxmlformats.org/drawingml/2006/main">
              <a:ext uri="{FF2B5EF4-FFF2-40B4-BE49-F238E27FC236}">
                <a16:creationId xmlns:a16="http://schemas.microsoft.com/office/drawing/2014/main" id="{BB7EA3ED-9DEF-4185-A662-AE575793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Delivery handoff</a:t>
            </a:r>
          </a:p>
        </p:txBody>
      </p:sp>
      <p:sp>
        <p:nvSpPr>
          <p:cNvPr id="15" name="d2">
            <a:extLst xmlns:a="http://schemas.openxmlformats.org/drawingml/2006/main">
              <a:ext uri="{FF2B5EF4-FFF2-40B4-BE49-F238E27FC236}">
                <a16:creationId xmlns:a16="http://schemas.microsoft.com/office/drawing/2014/main" id="{67EB5C02-03DE-4D5C-BF03-19574849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2571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70"/>
                </a:solidFill>
              </a:defRPr>
            </a:pPr>
            <a:r>
              <a:rPr sz="1425" b="0">
                <a:solidFill>
                  <a:srgbClr val="526070"/>
                </a:solidFill>
              </a:rPr>
              <a:t>New owners inherit summaries without assumptions, decisions, or unresolved risks.</a:t>
            </a:r>
          </a:p>
        </p:txBody>
      </p:sp>
      <p:sp>
        <p:nvSpPr>
          <p:cNvPr id="16" name="impact">
            <a:extLst xmlns:a="http://schemas.openxmlformats.org/drawingml/2006/main">
              <a:ext uri="{FF2B5EF4-FFF2-40B4-BE49-F238E27FC236}">
                <a16:creationId xmlns:a16="http://schemas.microsoft.com/office/drawing/2014/main" id="{70C1D998-DB81-4F39-B0F0-A810BFC9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impact-label">
            <a:extLst xmlns:a="http://schemas.openxmlformats.org/drawingml/2006/main">
              <a:ext uri="{FF2B5EF4-FFF2-40B4-BE49-F238E27FC236}">
                <a16:creationId xmlns:a16="http://schemas.microsoft.com/office/drawing/2014/main" id="{F58B02BF-C85B-4689-B307-CB74F29A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23B3B"/>
                </a:solidFill>
              </a:defRPr>
            </a:pPr>
            <a:r>
              <a:rPr sz="1050" b="1">
                <a:solidFill>
                  <a:srgbClr val="C23B3B"/>
                </a:solidFill>
              </a:rPr>
              <a:t>THE RESULT</a:t>
            </a:r>
          </a:p>
        </p:txBody>
      </p:sp>
      <p:sp>
        <p:nvSpPr>
          <p:cNvPr id="18" name="impact-copy">
            <a:extLst xmlns:a="http://schemas.openxmlformats.org/drawingml/2006/main">
              <a:ext uri="{FF2B5EF4-FFF2-40B4-BE49-F238E27FC236}">
                <a16:creationId xmlns:a16="http://schemas.microsoft.com/office/drawing/2014/main" id="{1847441A-AA0F-4F3B-BD5D-0BB44F63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Repeated discovery. Contradictory assumptions. Slower decisions. A weaker customer experience.</a:t>
            </a:r>
          </a:p>
        </p:txBody>
      </p:sp>
    </p:spTree>
    <p:extLst>
      <p:ext uri="{BB962C8B-B14F-4D97-AF65-F5344CB8AC3E}">
        <p14:creationId xmlns:p14="http://schemas.microsoft.com/office/powerpoint/2010/main" val="3395116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icker">
            <a:extLst xmlns:a="http://schemas.openxmlformats.org/drawingml/2006/main">
              <a:ext uri="{FF2B5EF4-FFF2-40B4-BE49-F238E27FC236}">
                <a16:creationId xmlns:a16="http://schemas.microsoft.com/office/drawing/2014/main" id="{F4043AAF-8FE2-49EB-A690-17C3A6F7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THE PRODUCT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B62096-49EC-48AB-8CE6-A2CFC1DD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Two connected loops keep the story intact.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544C925-B010-4BC2-BD17-E7C5D915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70"/>
                </a:solidFill>
              </a:defRPr>
            </a:pPr>
            <a:r>
              <a:rPr sz="975" b="1">
                <a:solidFill>
                  <a:srgbClr val="526070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CAF1F-3755-4BFF-8265-E1717D37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5" name="loop-one">
            <a:extLst xmlns:a="http://schemas.openxmlformats.org/drawingml/2006/main">
              <a:ext uri="{FF2B5EF4-FFF2-40B4-BE49-F238E27FC236}">
                <a16:creationId xmlns:a16="http://schemas.microsoft.com/office/drawing/2014/main" id="{CD63CC9D-DBD6-4258-A303-14041D7F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4FA"/>
          </a:solidFill>
          <a:ln xmlns:a="http://schemas.openxmlformats.org/drawingml/2006/main" w="9525">
            <a:solidFill>
              <a:srgbClr val="B9DDEC"/>
            </a:solidFill>
            <a:prstDash val="solid"/>
          </a:ln>
        </p:spPr>
      </p:sp>
      <p:sp>
        <p:nvSpPr>
          <p:cNvPr id="6" name="loop-two">
            <a:extLst xmlns:a="http://schemas.openxmlformats.org/drawingml/2006/main">
              <a:ext uri="{FF2B5EF4-FFF2-40B4-BE49-F238E27FC236}">
                <a16:creationId xmlns:a16="http://schemas.microsoft.com/office/drawing/2014/main" id="{E433FDE7-9167-4300-AEC3-DFA60B00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5143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F0D4A3"/>
            </a:solidFill>
            <a:prstDash val="solid"/>
          </a:ln>
        </p:spPr>
      </p:sp>
      <p:sp>
        <p:nvSpPr>
          <p:cNvPr id="7" name="phase1">
            <a:extLst xmlns:a="http://schemas.openxmlformats.org/drawingml/2006/main">
              <a:ext uri="{FF2B5EF4-FFF2-40B4-BE49-F238E27FC236}">
                <a16:creationId xmlns:a16="http://schemas.microsoft.com/office/drawing/2014/main" id="{A91E7A58-3C65-4E8F-9B68-F0850C22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LOOP 1  •  BEFORE THE MEETING</a:t>
            </a:r>
          </a:p>
        </p:txBody>
      </p:sp>
      <p:sp>
        <p:nvSpPr>
          <p:cNvPr id="8" name="phase1-title">
            <a:extLst xmlns:a="http://schemas.openxmlformats.org/drawingml/2006/main">
              <a:ext uri="{FF2B5EF4-FFF2-40B4-BE49-F238E27FC236}">
                <a16:creationId xmlns:a16="http://schemas.microsoft.com/office/drawing/2014/main" id="{4CEB530A-6B08-4930-AD6F-A279D960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Create a customer-ready brief</a:t>
            </a:r>
          </a:p>
        </p:txBody>
      </p:sp>
      <p:sp>
        <p:nvSpPr>
          <p:cNvPr id="9" name="a0">
            <a:extLst xmlns:a="http://schemas.openxmlformats.org/drawingml/2006/main">
              <a:ext uri="{FF2B5EF4-FFF2-40B4-BE49-F238E27FC236}">
                <a16:creationId xmlns:a16="http://schemas.microsoft.com/office/drawing/2014/main" id="{799ED9AC-502C-409F-9259-518EEE53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4000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DEC"/>
            </a:solidFill>
            <a:prstDash val="solid"/>
          </a:ln>
        </p:spPr>
      </p:sp>
      <p:sp>
        <p:nvSpPr>
          <p:cNvPr id="10" name="an0">
            <a:extLst xmlns:a="http://schemas.openxmlformats.org/drawingml/2006/main">
              <a:ext uri="{FF2B5EF4-FFF2-40B4-BE49-F238E27FC236}">
                <a16:creationId xmlns:a16="http://schemas.microsoft.com/office/drawing/2014/main" id="{54BB11FE-E79E-48AB-8E82-A0E84A43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1</a:t>
            </a:r>
          </a:p>
        </p:txBody>
      </p:sp>
      <p:sp>
        <p:nvSpPr>
          <p:cNvPr id="11" name="at0">
            <a:extLst xmlns:a="http://schemas.openxmlformats.org/drawingml/2006/main">
              <a:ext uri="{FF2B5EF4-FFF2-40B4-BE49-F238E27FC236}">
                <a16:creationId xmlns:a16="http://schemas.microsoft.com/office/drawing/2014/main" id="{32736E90-4C59-43C0-BB74-F16E7767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Capture context</a:t>
            </a:r>
          </a:p>
        </p:txBody>
      </p:sp>
      <p:sp>
        <p:nvSpPr>
          <p:cNvPr id="12" name="a1">
            <a:extLst xmlns:a="http://schemas.openxmlformats.org/drawingml/2006/main">
              <a:ext uri="{FF2B5EF4-FFF2-40B4-BE49-F238E27FC236}">
                <a16:creationId xmlns:a16="http://schemas.microsoft.com/office/drawing/2014/main" id="{62D9B5B6-58C5-48CE-B754-B2FAD550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4000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DEC"/>
            </a:solidFill>
            <a:prstDash val="solid"/>
          </a:ln>
        </p:spPr>
      </p:sp>
      <p:sp>
        <p:nvSpPr>
          <p:cNvPr id="13" name="an1">
            <a:extLst xmlns:a="http://schemas.openxmlformats.org/drawingml/2006/main">
              <a:ext uri="{FF2B5EF4-FFF2-40B4-BE49-F238E27FC236}">
                <a16:creationId xmlns:a16="http://schemas.microsoft.com/office/drawing/2014/main" id="{9BE50A6C-2551-4875-9B05-B5AD5C33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2</a:t>
            </a:r>
          </a:p>
        </p:txBody>
      </p:sp>
      <p:sp>
        <p:nvSpPr>
          <p:cNvPr id="14" name="at1">
            <a:extLst xmlns:a="http://schemas.openxmlformats.org/drawingml/2006/main">
              <a:ext uri="{FF2B5EF4-FFF2-40B4-BE49-F238E27FC236}">
                <a16:creationId xmlns:a16="http://schemas.microsoft.com/office/drawing/2014/main" id="{13FDC15D-DF9A-4430-A6DB-C292E76E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Generate tailored briefs</a:t>
            </a:r>
          </a:p>
        </p:txBody>
      </p:sp>
      <p:sp>
        <p:nvSpPr>
          <p:cNvPr id="15" name="a2">
            <a:extLst xmlns:a="http://schemas.openxmlformats.org/drawingml/2006/main">
              <a:ext uri="{FF2B5EF4-FFF2-40B4-BE49-F238E27FC236}">
                <a16:creationId xmlns:a16="http://schemas.microsoft.com/office/drawing/2014/main" id="{3F524B84-AA5D-4923-B180-7584985D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000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DEC"/>
            </a:solidFill>
            <a:prstDash val="solid"/>
          </a:ln>
        </p:spPr>
      </p:sp>
      <p:sp>
        <p:nvSpPr>
          <p:cNvPr id="16" name="an2">
            <a:extLst xmlns:a="http://schemas.openxmlformats.org/drawingml/2006/main">
              <a:ext uri="{FF2B5EF4-FFF2-40B4-BE49-F238E27FC236}">
                <a16:creationId xmlns:a16="http://schemas.microsoft.com/office/drawing/2014/main" id="{1B1D970D-D6AB-47C4-8B76-4B7215EF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3</a:t>
            </a:r>
          </a:p>
        </p:txBody>
      </p:sp>
      <p:sp>
        <p:nvSpPr>
          <p:cNvPr id="17" name="at2">
            <a:extLst xmlns:a="http://schemas.openxmlformats.org/drawingml/2006/main">
              <a:ext uri="{FF2B5EF4-FFF2-40B4-BE49-F238E27FC236}">
                <a16:creationId xmlns:a16="http://schemas.microsoft.com/office/drawing/2014/main" id="{2FA90AD7-954D-4BB1-963A-FDE9C383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Refine one brief at a time</a:t>
            </a:r>
          </a:p>
        </p:txBody>
      </p:sp>
      <p:sp>
        <p:nvSpPr>
          <p:cNvPr id="18" name="a3">
            <a:extLst xmlns:a="http://schemas.openxmlformats.org/drawingml/2006/main">
              <a:ext uri="{FF2B5EF4-FFF2-40B4-BE49-F238E27FC236}">
                <a16:creationId xmlns:a16="http://schemas.microsoft.com/office/drawing/2014/main" id="{9EE25FE5-61CF-491B-A3F6-656F42DF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4000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DEC"/>
            </a:solidFill>
            <a:prstDash val="solid"/>
          </a:ln>
        </p:spPr>
      </p:sp>
      <p:sp>
        <p:nvSpPr>
          <p:cNvPr id="19" name="an3">
            <a:extLst xmlns:a="http://schemas.openxmlformats.org/drawingml/2006/main">
              <a:ext uri="{FF2B5EF4-FFF2-40B4-BE49-F238E27FC236}">
                <a16:creationId xmlns:a16="http://schemas.microsoft.com/office/drawing/2014/main" id="{DB8D0F27-D0C7-4B14-B510-00221075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4</a:t>
            </a:r>
          </a:p>
        </p:txBody>
      </p:sp>
      <p:sp>
        <p:nvSpPr>
          <p:cNvPr id="20" name="at3">
            <a:extLst xmlns:a="http://schemas.openxmlformats.org/drawingml/2006/main">
              <a:ext uri="{FF2B5EF4-FFF2-40B4-BE49-F238E27FC236}">
                <a16:creationId xmlns:a16="http://schemas.microsoft.com/office/drawing/2014/main" id="{E7472AC5-4F95-4E80-8789-9C817D5B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910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Approve the packet</a:t>
            </a:r>
          </a:p>
        </p:txBody>
      </p:sp>
      <p:sp>
        <p:nvSpPr>
          <p:cNvPr id="21" name="phase2">
            <a:extLst xmlns:a="http://schemas.openxmlformats.org/drawingml/2006/main">
              <a:ext uri="{FF2B5EF4-FFF2-40B4-BE49-F238E27FC236}">
                <a16:creationId xmlns:a16="http://schemas.microsoft.com/office/drawing/2014/main" id="{98840967-0930-4BFD-864D-227F11D5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6B00"/>
                </a:solidFill>
              </a:defRPr>
            </a:pPr>
            <a:r>
              <a:rPr sz="1050" b="1">
                <a:solidFill>
                  <a:srgbClr val="B86B00"/>
                </a:solidFill>
              </a:rPr>
              <a:t>LOOP 2  •  AFTER THE MEETING</a:t>
            </a:r>
          </a:p>
        </p:txBody>
      </p:sp>
      <p:sp>
        <p:nvSpPr>
          <p:cNvPr id="22" name="phase2-title">
            <a:extLst xmlns:a="http://schemas.openxmlformats.org/drawingml/2006/main">
              <a:ext uri="{FF2B5EF4-FFF2-40B4-BE49-F238E27FC236}">
                <a16:creationId xmlns:a16="http://schemas.microsoft.com/office/drawing/2014/main" id="{E20A1789-AEEC-424C-8671-6EC42559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Turn the packet into project memory</a:t>
            </a:r>
          </a:p>
        </p:txBody>
      </p:sp>
      <p:sp>
        <p:nvSpPr>
          <p:cNvPr id="23" name="b0">
            <a:extLst xmlns:a="http://schemas.openxmlformats.org/drawingml/2006/main">
              <a:ext uri="{FF2B5EF4-FFF2-40B4-BE49-F238E27FC236}">
                <a16:creationId xmlns:a16="http://schemas.microsoft.com/office/drawing/2014/main" id="{3BED29FA-6E42-4445-A3C2-4992B53B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000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4A3"/>
            </a:solidFill>
            <a:prstDash val="solid"/>
          </a:ln>
        </p:spPr>
      </p:sp>
      <p:sp>
        <p:nvSpPr>
          <p:cNvPr id="24" name="bn0">
            <a:extLst xmlns:a="http://schemas.openxmlformats.org/drawingml/2006/main">
              <a:ext uri="{FF2B5EF4-FFF2-40B4-BE49-F238E27FC236}">
                <a16:creationId xmlns:a16="http://schemas.microsoft.com/office/drawing/2014/main" id="{790B750C-6828-4CCA-8574-35D4B8B4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6B00"/>
                </a:solidFill>
              </a:defRPr>
            </a:pPr>
            <a:r>
              <a:rPr sz="1050" b="1">
                <a:solidFill>
                  <a:srgbClr val="B86B00"/>
                </a:solidFill>
              </a:rPr>
              <a:t>1</a:t>
            </a:r>
          </a:p>
        </p:txBody>
      </p:sp>
      <p:sp>
        <p:nvSpPr>
          <p:cNvPr id="25" name="bt0">
            <a:extLst xmlns:a="http://schemas.openxmlformats.org/drawingml/2006/main">
              <a:ext uri="{FF2B5EF4-FFF2-40B4-BE49-F238E27FC236}">
                <a16:creationId xmlns:a16="http://schemas.microsoft.com/office/drawing/2014/main" id="{C3581C32-22EE-4116-828D-A4445207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051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Capture outcomes</a:t>
            </a:r>
          </a:p>
        </p:txBody>
      </p:sp>
      <p:sp>
        <p:nvSpPr>
          <p:cNvPr id="26" name="b1">
            <a:extLst xmlns:a="http://schemas.openxmlformats.org/drawingml/2006/main">
              <a:ext uri="{FF2B5EF4-FFF2-40B4-BE49-F238E27FC236}">
                <a16:creationId xmlns:a16="http://schemas.microsoft.com/office/drawing/2014/main" id="{8293939A-8225-49A9-B56A-5EC7B9A2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4000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4A3"/>
            </a:solidFill>
            <a:prstDash val="solid"/>
          </a:ln>
        </p:spPr>
      </p:sp>
      <p:sp>
        <p:nvSpPr>
          <p:cNvPr id="27" name="bn1">
            <a:extLst xmlns:a="http://schemas.openxmlformats.org/drawingml/2006/main">
              <a:ext uri="{FF2B5EF4-FFF2-40B4-BE49-F238E27FC236}">
                <a16:creationId xmlns:a16="http://schemas.microsoft.com/office/drawing/2014/main" id="{94E350F8-A8F2-48A3-A67E-6A29C650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6B00"/>
                </a:solidFill>
              </a:defRPr>
            </a:pPr>
            <a:r>
              <a:rPr sz="1050" b="1">
                <a:solidFill>
                  <a:srgbClr val="B86B00"/>
                </a:solidFill>
              </a:rPr>
              <a:t>2</a:t>
            </a:r>
          </a:p>
        </p:txBody>
      </p:sp>
      <p:sp>
        <p:nvSpPr>
          <p:cNvPr id="28" name="bt1">
            <a:extLst xmlns:a="http://schemas.openxmlformats.org/drawingml/2006/main">
              <a:ext uri="{FF2B5EF4-FFF2-40B4-BE49-F238E27FC236}">
                <a16:creationId xmlns:a16="http://schemas.microsoft.com/office/drawing/2014/main" id="{81F36BD2-94F6-4988-805F-344F7267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004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Build the team handoff</a:t>
            </a:r>
          </a:p>
        </p:txBody>
      </p:sp>
      <p:sp>
        <p:nvSpPr>
          <p:cNvPr id="29" name="b2">
            <a:extLst xmlns:a="http://schemas.openxmlformats.org/drawingml/2006/main">
              <a:ext uri="{FF2B5EF4-FFF2-40B4-BE49-F238E27FC236}">
                <a16:creationId xmlns:a16="http://schemas.microsoft.com/office/drawing/2014/main" id="{6B02F903-F259-4EE0-ABA8-64DA922A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000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4A3"/>
            </a:solidFill>
            <a:prstDash val="solid"/>
          </a:ln>
        </p:spPr>
      </p:sp>
      <p:sp>
        <p:nvSpPr>
          <p:cNvPr id="30" name="bn2">
            <a:extLst xmlns:a="http://schemas.openxmlformats.org/drawingml/2006/main">
              <a:ext uri="{FF2B5EF4-FFF2-40B4-BE49-F238E27FC236}">
                <a16:creationId xmlns:a16="http://schemas.microsoft.com/office/drawing/2014/main" id="{9563BE13-8DB1-457D-902F-D8A37E4D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6B00"/>
                </a:solidFill>
              </a:defRPr>
            </a:pPr>
            <a:r>
              <a:rPr sz="1050" b="1">
                <a:solidFill>
                  <a:srgbClr val="B86B00"/>
                </a:solidFill>
              </a:rPr>
              <a:t>3</a:t>
            </a:r>
          </a:p>
        </p:txBody>
      </p:sp>
      <p:sp>
        <p:nvSpPr>
          <p:cNvPr id="31" name="bt2">
            <a:extLst xmlns:a="http://schemas.openxmlformats.org/drawingml/2006/main">
              <a:ext uri="{FF2B5EF4-FFF2-40B4-BE49-F238E27FC236}">
                <a16:creationId xmlns:a16="http://schemas.microsoft.com/office/drawing/2014/main" id="{658A85A0-CB13-468D-A648-25FB1349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9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Track decisions and risks</a:t>
            </a:r>
          </a:p>
        </p:txBody>
      </p:sp>
      <p:sp>
        <p:nvSpPr>
          <p:cNvPr id="32" name="b3">
            <a:extLst xmlns:a="http://schemas.openxmlformats.org/drawingml/2006/main">
              <a:ext uri="{FF2B5EF4-FFF2-40B4-BE49-F238E27FC236}">
                <a16:creationId xmlns:a16="http://schemas.microsoft.com/office/drawing/2014/main" id="{87E0052F-86F1-42DD-A8E1-43319A0D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4000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4A3"/>
            </a:solidFill>
            <a:prstDash val="solid"/>
          </a:ln>
        </p:spPr>
      </p:sp>
      <p:sp>
        <p:nvSpPr>
          <p:cNvPr id="33" name="bn3">
            <a:extLst xmlns:a="http://schemas.openxmlformats.org/drawingml/2006/main">
              <a:ext uri="{FF2B5EF4-FFF2-40B4-BE49-F238E27FC236}">
                <a16:creationId xmlns:a16="http://schemas.microsoft.com/office/drawing/2014/main" id="{36412ACB-699D-4CC3-AABD-72E339E0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6B00"/>
                </a:solidFill>
              </a:defRPr>
            </a:pPr>
            <a:r>
              <a:rPr sz="1050" b="1">
                <a:solidFill>
                  <a:srgbClr val="B86B00"/>
                </a:solidFill>
              </a:rPr>
              <a:t>4</a:t>
            </a:r>
          </a:p>
        </p:txBody>
      </p:sp>
      <p:sp>
        <p:nvSpPr>
          <p:cNvPr id="34" name="bt3">
            <a:extLst xmlns:a="http://schemas.openxmlformats.org/drawingml/2006/main">
              <a:ext uri="{FF2B5EF4-FFF2-40B4-BE49-F238E27FC236}">
                <a16:creationId xmlns:a16="http://schemas.microsoft.com/office/drawing/2014/main" id="{754A37B3-BF06-4CF3-99EA-470FBF37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910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Catch up by role</a:t>
            </a:r>
          </a:p>
        </p:txBody>
      </p:sp>
    </p:spTree>
    <p:extLst>
      <p:ext uri="{BB962C8B-B14F-4D97-AF65-F5344CB8AC3E}">
        <p14:creationId xmlns:p14="http://schemas.microsoft.com/office/powerpoint/2010/main" val="907382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240AA11F-84BF-4ED4-AEB7-BD60FF4A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LIVE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DBC8EA-AAB1-4734-8B80-25A8C441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PeakCart Retail: protect peak season without slowing growth.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8751F9B-90FF-4A95-8019-C598D9A0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70"/>
                </a:solidFill>
              </a:defRPr>
            </a:pPr>
            <a:r>
              <a:rPr sz="975" b="1">
                <a:solidFill>
                  <a:srgbClr val="526070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F7BFA-196E-47FC-A47C-7540A563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6700ada34458d"/>
          <a:srcRect xmlns:a="http://schemas.openxmlformats.org/drawingml/2006/main" l="0" t="2273" r="0" b="22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67056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6" name="scenario">
            <a:extLst xmlns:a="http://schemas.openxmlformats.org/drawingml/2006/main">
              <a:ext uri="{FF2B5EF4-FFF2-40B4-BE49-F238E27FC236}">
                <a16:creationId xmlns:a16="http://schemas.microsoft.com/office/drawing/2014/main" id="{92C087B4-6F86-463A-AC25-784F70F1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CUSTOMER SCENARIO</a:t>
            </a:r>
          </a:p>
        </p:txBody>
      </p:sp>
      <p:sp>
        <p:nvSpPr>
          <p:cNvPr id="7" name="scenario-title">
            <a:extLst xmlns:a="http://schemas.openxmlformats.org/drawingml/2006/main">
              <a:ext uri="{FF2B5EF4-FFF2-40B4-BE49-F238E27FC236}">
                <a16:creationId xmlns:a16="http://schemas.microsoft.com/office/drawing/2014/main" id="{DF01C208-5CB9-4C08-A404-D4F3F1C5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Already on AWS.</a:t>
            </a:r>
          </a:p>
          <a:p xmlns:a="http://schemas.openxmlformats.org/drawingml/2006/main">
            <a:pPr algn="l"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Four-times traffic ahead.</a:t>
            </a:r>
          </a:p>
        </p:txBody>
      </p:sp>
      <p:sp>
        <p:nvSpPr>
          <p:cNvPr id="8" name="dot0">
            <a:extLst xmlns:a="http://schemas.openxmlformats.org/drawingml/2006/main">
              <a:ext uri="{FF2B5EF4-FFF2-40B4-BE49-F238E27FC236}">
                <a16:creationId xmlns:a16="http://schemas.microsoft.com/office/drawing/2014/main" id="{814FB793-6A66-4A2D-B576-7EFD2357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BA"/>
          </a:solidFill>
          <a:ln xmlns:a="http://schemas.openxmlformats.org/drawingml/2006/main" w="9525">
            <a:solidFill>
              <a:srgbClr val="147EBA"/>
            </a:solidFill>
            <a:prstDash val="solid"/>
          </a:ln>
        </p:spPr>
      </p:sp>
      <p:sp>
        <p:nvSpPr>
          <p:cNvPr id="9" name="fact0">
            <a:extLst xmlns:a="http://schemas.openxmlformats.org/drawingml/2006/main">
              <a:ext uri="{FF2B5EF4-FFF2-40B4-BE49-F238E27FC236}">
                <a16:creationId xmlns:a16="http://schemas.microsoft.com/office/drawing/2014/main" id="{4C4BC043-1082-42F2-AD53-F22E0EB6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Checkout latency and payment degradation</a:t>
            </a:r>
          </a:p>
        </p:txBody>
      </p:sp>
      <p:sp>
        <p:nvSpPr>
          <p:cNvPr id="10" name="dot1">
            <a:extLst xmlns:a="http://schemas.openxmlformats.org/drawingml/2006/main">
              <a:ext uri="{FF2B5EF4-FFF2-40B4-BE49-F238E27FC236}">
                <a16:creationId xmlns:a16="http://schemas.microsoft.com/office/drawing/2014/main" id="{2A580A24-23F7-4D53-B248-E64993A2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EBA"/>
          </a:solidFill>
          <a:ln xmlns:a="http://schemas.openxmlformats.org/drawingml/2006/main" w="9525">
            <a:solidFill>
              <a:srgbClr val="147EBA"/>
            </a:solidFill>
            <a:prstDash val="solid"/>
          </a:ln>
        </p:spPr>
      </p:sp>
      <p:sp>
        <p:nvSpPr>
          <p:cNvPr id="11" name="fact1">
            <a:extLst xmlns:a="http://schemas.openxmlformats.org/drawingml/2006/main">
              <a:ext uri="{FF2B5EF4-FFF2-40B4-BE49-F238E27FC236}">
                <a16:creationId xmlns:a16="http://schemas.microsoft.com/office/drawing/2014/main" id="{BDEA9B74-A459-42C4-A432-88079157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Inconsistent load-test evidence and ownership</a:t>
            </a:r>
          </a:p>
        </p:txBody>
      </p:sp>
      <p:sp>
        <p:nvSpPr>
          <p:cNvPr id="12" name="dot2">
            <a:extLst xmlns:a="http://schemas.openxmlformats.org/drawingml/2006/main">
              <a:ext uri="{FF2B5EF4-FFF2-40B4-BE49-F238E27FC236}">
                <a16:creationId xmlns:a16="http://schemas.microsoft.com/office/drawing/2014/main" id="{0F72795C-C9A8-4115-A9B0-F200C743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3" name="fact2">
            <a:extLst xmlns:a="http://schemas.openxmlformats.org/drawingml/2006/main">
              <a:ext uri="{FF2B5EF4-FFF2-40B4-BE49-F238E27FC236}">
                <a16:creationId xmlns:a16="http://schemas.microsoft.com/office/drawing/2014/main" id="{482710C8-5C63-429B-9696-9AFF38D6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Executive concern about cost and customer impact</a:t>
            </a:r>
          </a:p>
        </p:txBody>
      </p:sp>
      <p:sp>
        <p:nvSpPr>
          <p:cNvPr id="14" name="demo-callout">
            <a:extLst xmlns:a="http://schemas.openxmlformats.org/drawingml/2006/main">
              <a:ext uri="{FF2B5EF4-FFF2-40B4-BE49-F238E27FC236}">
                <a16:creationId xmlns:a16="http://schemas.microsoft.com/office/drawing/2014/main" id="{CDAA25A9-1719-4D86-BEB7-7292F857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335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5" name="demo-callout-text">
            <a:extLst xmlns:a="http://schemas.openxmlformats.org/drawingml/2006/main">
              <a:ext uri="{FF2B5EF4-FFF2-40B4-BE49-F238E27FC236}">
                <a16:creationId xmlns:a16="http://schemas.microsoft.com/office/drawing/2014/main" id="{BB962B97-DC92-43C7-8A3E-1802A36C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335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Walk the live workflow now</a:t>
            </a:r>
          </a:p>
        </p:txBody>
      </p:sp>
    </p:spTree>
    <p:extLst>
      <p:ext uri="{BB962C8B-B14F-4D97-AF65-F5344CB8AC3E}">
        <p14:creationId xmlns:p14="http://schemas.microsoft.com/office/powerpoint/2010/main" val="6873769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A31DA1F2-60FF-45FD-A203-06185D4C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WHAT THE DEMO PROVES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10F0EF-8890-4C1A-A7AB-1E98AA7D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One packet serves the meeting — and the work after it.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8D3CF1F-6F0F-439E-AB37-8A4D4DE5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70"/>
                </a:solidFill>
              </a:defRPr>
            </a:pPr>
            <a:r>
              <a:rPr sz="975" b="1">
                <a:solidFill>
                  <a:srgbClr val="526070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F6D1F-F112-4B69-B901-395F1E48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5" name="idx0">
            <a:extLst xmlns:a="http://schemas.openxmlformats.org/drawingml/2006/main">
              <a:ext uri="{FF2B5EF4-FFF2-40B4-BE49-F238E27FC236}">
                <a16:creationId xmlns:a16="http://schemas.microsoft.com/office/drawing/2014/main" id="{E44797DD-07BA-4E5E-97F1-420C2DAC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01</a:t>
            </a:r>
          </a:p>
        </p:txBody>
      </p:sp>
      <p:sp>
        <p:nvSpPr>
          <p:cNvPr id="6" name="it0">
            <a:extLst xmlns:a="http://schemas.openxmlformats.org/drawingml/2006/main">
              <a:ext uri="{FF2B5EF4-FFF2-40B4-BE49-F238E27FC236}">
                <a16:creationId xmlns:a16="http://schemas.microsoft.com/office/drawing/2014/main" id="{C1ABA2C7-4212-45F3-8B30-B798ECF2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Business case</a:t>
            </a:r>
          </a:p>
        </p:txBody>
      </p:sp>
      <p:sp>
        <p:nvSpPr>
          <p:cNvPr id="7" name="id0">
            <a:extLst xmlns:a="http://schemas.openxmlformats.org/drawingml/2006/main">
              <a:ext uri="{FF2B5EF4-FFF2-40B4-BE49-F238E27FC236}">
                <a16:creationId xmlns:a16="http://schemas.microsoft.com/office/drawing/2014/main" id="{E2A15FC5-A17F-4DB7-A29F-3F206296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Restates urgency, outcomes, scope, and success measures.</a:t>
            </a:r>
          </a:p>
        </p:txBody>
      </p:sp>
      <p:sp>
        <p:nvSpPr>
          <p:cNvPr id="8" name="idx1">
            <a:extLst xmlns:a="http://schemas.openxmlformats.org/drawingml/2006/main">
              <a:ext uri="{FF2B5EF4-FFF2-40B4-BE49-F238E27FC236}">
                <a16:creationId xmlns:a16="http://schemas.microsoft.com/office/drawing/2014/main" id="{114C4371-D29D-4D02-BA74-4160A738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90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02</a:t>
            </a:r>
          </a:p>
        </p:txBody>
      </p:sp>
      <p:sp>
        <p:nvSpPr>
          <p:cNvPr id="9" name="it1">
            <a:extLst xmlns:a="http://schemas.openxmlformats.org/drawingml/2006/main">
              <a:ext uri="{FF2B5EF4-FFF2-40B4-BE49-F238E27FC236}">
                <a16:creationId xmlns:a16="http://schemas.microsoft.com/office/drawing/2014/main" id="{6EE786F1-2575-47B5-8E75-C99983EF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Technical brief</a:t>
            </a:r>
          </a:p>
        </p:txBody>
      </p:sp>
      <p:sp>
        <p:nvSpPr>
          <p:cNvPr id="10" name="id1">
            <a:extLst xmlns:a="http://schemas.openxmlformats.org/drawingml/2006/main">
              <a:ext uri="{FF2B5EF4-FFF2-40B4-BE49-F238E27FC236}">
                <a16:creationId xmlns:a16="http://schemas.microsoft.com/office/drawing/2014/main" id="{8816133E-3C97-4FAD-A249-68C24DEA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527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Surfaces assumptions, architecture questions, risks, and AWS rationale.</a:t>
            </a:r>
          </a:p>
        </p:txBody>
      </p:sp>
      <p:sp>
        <p:nvSpPr>
          <p:cNvPr id="11" name="idx2">
            <a:extLst xmlns:a="http://schemas.openxmlformats.org/drawingml/2006/main">
              <a:ext uri="{FF2B5EF4-FFF2-40B4-BE49-F238E27FC236}">
                <a16:creationId xmlns:a16="http://schemas.microsoft.com/office/drawing/2014/main" id="{10D2E3DD-C8E8-429A-8AE4-8EA332B6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90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03</a:t>
            </a:r>
          </a:p>
        </p:txBody>
      </p:sp>
      <p:sp>
        <p:nvSpPr>
          <p:cNvPr id="12" name="it2">
            <a:extLst xmlns:a="http://schemas.openxmlformats.org/drawingml/2006/main">
              <a:ext uri="{FF2B5EF4-FFF2-40B4-BE49-F238E27FC236}">
                <a16:creationId xmlns:a16="http://schemas.microsoft.com/office/drawing/2014/main" id="{F49D1DE4-EA1F-46CD-9009-27404ADB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526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Executive brief</a:t>
            </a:r>
          </a:p>
        </p:txBody>
      </p:sp>
      <p:sp>
        <p:nvSpPr>
          <p:cNvPr id="13" name="id2">
            <a:extLst xmlns:a="http://schemas.openxmlformats.org/drawingml/2006/main">
              <a:ext uri="{FF2B5EF4-FFF2-40B4-BE49-F238E27FC236}">
                <a16:creationId xmlns:a16="http://schemas.microsoft.com/office/drawing/2014/main" id="{C2D8AFE6-AF01-4780-9B64-ACE0B3D1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Frames decisions and value without technical overload.</a:t>
            </a:r>
          </a:p>
        </p:txBody>
      </p:sp>
      <p:sp>
        <p:nvSpPr>
          <p:cNvPr id="14" name="idx3">
            <a:extLst xmlns:a="http://schemas.openxmlformats.org/drawingml/2006/main">
              <a:ext uri="{FF2B5EF4-FFF2-40B4-BE49-F238E27FC236}">
                <a16:creationId xmlns:a16="http://schemas.microsoft.com/office/drawing/2014/main" id="{2E3C5465-30BA-4CF2-B35D-9490EF47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6B00"/>
                </a:solidFill>
              </a:defRPr>
            </a:pPr>
            <a:r>
              <a:rPr sz="1050" b="1">
                <a:solidFill>
                  <a:srgbClr val="B86B00"/>
                </a:solidFill>
              </a:rPr>
              <a:t>04</a:t>
            </a:r>
          </a:p>
        </p:txBody>
      </p:sp>
      <p:sp>
        <p:nvSpPr>
          <p:cNvPr id="15" name="it3">
            <a:extLst xmlns:a="http://schemas.openxmlformats.org/drawingml/2006/main">
              <a:ext uri="{FF2B5EF4-FFF2-40B4-BE49-F238E27FC236}">
                <a16:creationId xmlns:a16="http://schemas.microsoft.com/office/drawing/2014/main" id="{0FE089D7-8AE5-45CD-BA4D-F0D2C513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Objections</a:t>
            </a:r>
          </a:p>
        </p:txBody>
      </p:sp>
      <p:sp>
        <p:nvSpPr>
          <p:cNvPr id="16" name="id3">
            <a:extLst xmlns:a="http://schemas.openxmlformats.org/drawingml/2006/main">
              <a:ext uri="{FF2B5EF4-FFF2-40B4-BE49-F238E27FC236}">
                <a16:creationId xmlns:a16="http://schemas.microsoft.com/office/drawing/2014/main" id="{5FFDBEB6-F1DA-46EE-B01E-FFE2F6A0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Prepares evidence-based responses for likely blockers.</a:t>
            </a:r>
          </a:p>
        </p:txBody>
      </p:sp>
      <p:sp>
        <p:nvSpPr>
          <p:cNvPr id="17" name="idx4">
            <a:extLst xmlns:a="http://schemas.openxmlformats.org/drawingml/2006/main">
              <a:ext uri="{FF2B5EF4-FFF2-40B4-BE49-F238E27FC236}">
                <a16:creationId xmlns:a16="http://schemas.microsoft.com/office/drawing/2014/main" id="{1DCF2704-6AAB-463F-AEEF-3A7515FE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05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6B00"/>
                </a:solidFill>
              </a:defRPr>
            </a:pPr>
            <a:r>
              <a:rPr sz="1050" b="1">
                <a:solidFill>
                  <a:srgbClr val="B86B00"/>
                </a:solidFill>
              </a:rPr>
              <a:t>05</a:t>
            </a:r>
          </a:p>
        </p:txBody>
      </p:sp>
      <p:sp>
        <p:nvSpPr>
          <p:cNvPr id="18" name="it4">
            <a:extLst xmlns:a="http://schemas.openxmlformats.org/drawingml/2006/main">
              <a:ext uri="{FF2B5EF4-FFF2-40B4-BE49-F238E27FC236}">
                <a16:creationId xmlns:a16="http://schemas.microsoft.com/office/drawing/2014/main" id="{8DB0D8DF-8B36-4097-8683-90645FE5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671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Meeting plan</a:t>
            </a:r>
          </a:p>
        </p:txBody>
      </p:sp>
      <p:sp>
        <p:nvSpPr>
          <p:cNvPr id="19" name="id4">
            <a:extLst xmlns:a="http://schemas.openxmlformats.org/drawingml/2006/main">
              <a:ext uri="{FF2B5EF4-FFF2-40B4-BE49-F238E27FC236}">
                <a16:creationId xmlns:a16="http://schemas.microsoft.com/office/drawing/2014/main" id="{A9F999BB-2012-49A6-B087-186D978E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Gives the SA a practical talk track and closeout checklist.</a:t>
            </a:r>
          </a:p>
        </p:txBody>
      </p:sp>
      <p:sp>
        <p:nvSpPr>
          <p:cNvPr id="20" name="idx5">
            <a:extLst xmlns:a="http://schemas.openxmlformats.org/drawingml/2006/main">
              <a:ext uri="{FF2B5EF4-FFF2-40B4-BE49-F238E27FC236}">
                <a16:creationId xmlns:a16="http://schemas.microsoft.com/office/drawing/2014/main" id="{1140C875-B259-4BBD-AB5E-331F2B72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05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6B00"/>
                </a:solidFill>
              </a:defRPr>
            </a:pPr>
            <a:r>
              <a:rPr sz="1050" b="1">
                <a:solidFill>
                  <a:srgbClr val="B86B00"/>
                </a:solidFill>
              </a:rPr>
              <a:t>06</a:t>
            </a:r>
          </a:p>
        </p:txBody>
      </p:sp>
      <p:sp>
        <p:nvSpPr>
          <p:cNvPr id="21" name="it5">
            <a:extLst xmlns:a="http://schemas.openxmlformats.org/drawingml/2006/main">
              <a:ext uri="{FF2B5EF4-FFF2-40B4-BE49-F238E27FC236}">
                <a16:creationId xmlns:a16="http://schemas.microsoft.com/office/drawing/2014/main" id="{77B0A94A-55C8-4679-928F-15DF2D0F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671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Team handoff</a:t>
            </a:r>
          </a:p>
        </p:txBody>
      </p:sp>
      <p:sp>
        <p:nvSpPr>
          <p:cNvPr id="22" name="id5">
            <a:extLst xmlns:a="http://schemas.openxmlformats.org/drawingml/2006/main">
              <a:ext uri="{FF2B5EF4-FFF2-40B4-BE49-F238E27FC236}">
                <a16:creationId xmlns:a16="http://schemas.microsoft.com/office/drawing/2014/main" id="{871140BA-1936-4F7C-8D7E-F59444B0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672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Carries decisions, owners, risks, and next steps forward.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ECBA0-B310-4DF7-85AC-C1EE9030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24" name="refine-proof">
            <a:extLst xmlns:a="http://schemas.openxmlformats.org/drawingml/2006/main">
              <a:ext uri="{FF2B5EF4-FFF2-40B4-BE49-F238E27FC236}">
                <a16:creationId xmlns:a16="http://schemas.microsoft.com/office/drawing/2014/main" id="{8B4DD298-6FE7-4EAD-ACF8-1BC718E7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Targeted refinement regenerates the selected brief from authoritative facts — without silently rewriting the rest of the packet.</a:t>
            </a:r>
          </a:p>
        </p:txBody>
      </p:sp>
    </p:spTree>
    <p:extLst>
      <p:ext uri="{BB962C8B-B14F-4D97-AF65-F5344CB8AC3E}">
        <p14:creationId xmlns:p14="http://schemas.microsoft.com/office/powerpoint/2010/main" val="8230170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474A1BBF-3DCE-4569-B18B-F9502570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AFTER APPROVAL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AF76E5-C6FF-47C0-A7C3-DD62034F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packet becomes a governed project starting point.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4646A7F-17EA-4C80-A527-65B62AE5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70"/>
                </a:solidFill>
              </a:defRPr>
            </a:pPr>
            <a:r>
              <a:rPr sz="975" b="1">
                <a:solidFill>
                  <a:srgbClr val="526070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85A33-72BE-4F8F-9DE8-EBC9FCE3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5" name="stage0">
            <a:extLst xmlns:a="http://schemas.openxmlformats.org/drawingml/2006/main">
              <a:ext uri="{FF2B5EF4-FFF2-40B4-BE49-F238E27FC236}">
                <a16:creationId xmlns:a16="http://schemas.microsoft.com/office/drawing/2014/main" id="{0AEAEAA6-2069-4050-A8E2-5AE3C391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051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4FA"/>
          </a:solidFill>
          <a:ln xmlns:a="http://schemas.openxmlformats.org/drawingml/2006/main" w="9525">
            <a:solidFill>
              <a:srgbClr val="B9DDEC"/>
            </a:solidFill>
            <a:prstDash val="solid"/>
          </a:ln>
        </p:spPr>
      </p:sp>
      <p:sp>
        <p:nvSpPr>
          <p:cNvPr id="6" name="stage-num0">
            <a:extLst xmlns:a="http://schemas.openxmlformats.org/drawingml/2006/main">
              <a:ext uri="{FF2B5EF4-FFF2-40B4-BE49-F238E27FC236}">
                <a16:creationId xmlns:a16="http://schemas.microsoft.com/office/drawing/2014/main" id="{9214DE13-193B-4AB0-B8B5-B0D3FBCA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EBA"/>
                </a:solidFill>
              </a:defRPr>
            </a:pPr>
            <a:r>
              <a:rPr sz="1125" b="1">
                <a:solidFill>
                  <a:srgbClr val="147EBA"/>
                </a:solidFill>
              </a:rPr>
              <a:t>1</a:t>
            </a:r>
          </a:p>
        </p:txBody>
      </p:sp>
      <p:sp>
        <p:nvSpPr>
          <p:cNvPr id="7" name="stage-title0">
            <a:extLst xmlns:a="http://schemas.openxmlformats.org/drawingml/2006/main">
              <a:ext uri="{FF2B5EF4-FFF2-40B4-BE49-F238E27FC236}">
                <a16:creationId xmlns:a16="http://schemas.microsoft.com/office/drawing/2014/main" id="{770660BC-8361-414D-A3C8-958DF633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Approved packet</a:t>
            </a:r>
          </a:p>
        </p:txBody>
      </p:sp>
      <p:sp>
        <p:nvSpPr>
          <p:cNvPr id="8" name="stage-desc0">
            <a:extLst xmlns:a="http://schemas.openxmlformats.org/drawingml/2006/main">
              <a:ext uri="{FF2B5EF4-FFF2-40B4-BE49-F238E27FC236}">
                <a16:creationId xmlns:a16="http://schemas.microsoft.com/office/drawing/2014/main" id="{7EA5E14E-E1BF-4C68-B239-4B896455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Customer context, briefs, decision-maker lens</a:t>
            </a:r>
          </a:p>
        </p:txBody>
      </p:sp>
      <p:sp>
        <p:nvSpPr>
          <p:cNvPr id="9" name="stage1">
            <a:extLst xmlns:a="http://schemas.openxmlformats.org/drawingml/2006/main">
              <a:ext uri="{FF2B5EF4-FFF2-40B4-BE49-F238E27FC236}">
                <a16:creationId xmlns:a16="http://schemas.microsoft.com/office/drawing/2014/main" id="{B9C71D5E-E9B1-422A-8D12-7DB0967A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31051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EAC88F"/>
            </a:solidFill>
            <a:prstDash val="solid"/>
          </a:ln>
        </p:spPr>
      </p:sp>
      <p:sp>
        <p:nvSpPr>
          <p:cNvPr id="10" name="stage-num1">
            <a:extLst xmlns:a="http://schemas.openxmlformats.org/drawingml/2006/main">
              <a:ext uri="{FF2B5EF4-FFF2-40B4-BE49-F238E27FC236}">
                <a16:creationId xmlns:a16="http://schemas.microsoft.com/office/drawing/2014/main" id="{BA31C352-931F-4D94-B2C3-527E9115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6B00"/>
                </a:solidFill>
              </a:defRPr>
            </a:pPr>
            <a:r>
              <a:rPr sz="1125" b="1">
                <a:solidFill>
                  <a:srgbClr val="B86B00"/>
                </a:solidFill>
              </a:rPr>
              <a:t>2</a:t>
            </a:r>
          </a:p>
        </p:txBody>
      </p:sp>
      <p:sp>
        <p:nvSpPr>
          <p:cNvPr id="11" name="stage-title1">
            <a:extLst xmlns:a="http://schemas.openxmlformats.org/drawingml/2006/main">
              <a:ext uri="{FF2B5EF4-FFF2-40B4-BE49-F238E27FC236}">
                <a16:creationId xmlns:a16="http://schemas.microsoft.com/office/drawing/2014/main" id="{C46018E0-9671-4C35-8DDA-B9794A84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384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Agent handoff</a:t>
            </a:r>
          </a:p>
        </p:txBody>
      </p:sp>
      <p:sp>
        <p:nvSpPr>
          <p:cNvPr id="12" name="stage-desc1">
            <a:extLst xmlns:a="http://schemas.openxmlformats.org/drawingml/2006/main">
              <a:ext uri="{FF2B5EF4-FFF2-40B4-BE49-F238E27FC236}">
                <a16:creationId xmlns:a16="http://schemas.microsoft.com/office/drawing/2014/main" id="{D8FFFA6B-038F-4B5F-937D-17A9F2F7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718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Outcomes, owners, risks, assumptions, next steps</a:t>
            </a:r>
          </a:p>
        </p:txBody>
      </p:sp>
      <p:sp>
        <p:nvSpPr>
          <p:cNvPr id="13" name="stage2">
            <a:extLst xmlns:a="http://schemas.openxmlformats.org/drawingml/2006/main">
              <a:ext uri="{FF2B5EF4-FFF2-40B4-BE49-F238E27FC236}">
                <a16:creationId xmlns:a16="http://schemas.microsoft.com/office/drawing/2014/main" id="{A1FB912B-33C3-48B6-8CBA-EF0DF1FD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31051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6F1"/>
          </a:solidFill>
          <a:ln xmlns:a="http://schemas.openxmlformats.org/drawingml/2006/main" w="9525">
            <a:solidFill>
              <a:srgbClr val="A9DCCB"/>
            </a:solidFill>
            <a:prstDash val="solid"/>
          </a:ln>
        </p:spPr>
      </p:sp>
      <p:sp>
        <p:nvSpPr>
          <p:cNvPr id="14" name="stage-num2">
            <a:extLst xmlns:a="http://schemas.openxmlformats.org/drawingml/2006/main">
              <a:ext uri="{FF2B5EF4-FFF2-40B4-BE49-F238E27FC236}">
                <a16:creationId xmlns:a16="http://schemas.microsoft.com/office/drawing/2014/main" id="{0CD4B149-0ACB-4878-B2A3-0208F741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B"/>
                </a:solidFill>
              </a:defRPr>
            </a:pPr>
            <a:r>
              <a:rPr sz="1125" b="1">
                <a:solidFill>
                  <a:srgbClr val="16856B"/>
                </a:solidFill>
              </a:rPr>
              <a:t>3</a:t>
            </a:r>
          </a:p>
        </p:txBody>
      </p:sp>
      <p:sp>
        <p:nvSpPr>
          <p:cNvPr id="15" name="stage-title2">
            <a:extLst xmlns:a="http://schemas.openxmlformats.org/drawingml/2006/main">
              <a:ext uri="{FF2B5EF4-FFF2-40B4-BE49-F238E27FC236}">
                <a16:creationId xmlns:a16="http://schemas.microsoft.com/office/drawing/2014/main" id="{8330DC6B-6B89-4B2C-9663-E9EA7AD5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Role-aware catch-up</a:t>
            </a:r>
          </a:p>
        </p:txBody>
      </p:sp>
      <p:sp>
        <p:nvSpPr>
          <p:cNvPr id="16" name="stage-desc2">
            <a:extLst xmlns:a="http://schemas.openxmlformats.org/drawingml/2006/main">
              <a:ext uri="{FF2B5EF4-FFF2-40B4-BE49-F238E27FC236}">
                <a16:creationId xmlns:a16="http://schemas.microsoft.com/office/drawing/2014/main" id="{78F1FC2D-0A50-4A81-81BE-57C683EA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0"/>
                </a:solidFill>
              </a:defRPr>
            </a:pPr>
            <a:r>
              <a:rPr sz="1275" b="0">
                <a:solidFill>
                  <a:srgbClr val="526070"/>
                </a:solidFill>
              </a:rPr>
              <a:t>Sales, SA, delivery, or executive view</a:t>
            </a:r>
          </a:p>
        </p:txBody>
      </p: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90950" y="319087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70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24750" y="319087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70"/>
            </a:solidFill>
            <a:prstDash val="solid"/>
            <a:tailEnd type="arrow" w="med" len="med"/>
          </a:ln>
        </p:spPr>
      </p:cxnSp>
      <p:sp>
        <p:nvSpPr>
          <p:cNvPr id="19" name="read-only">
            <a:extLst xmlns:a="http://schemas.openxmlformats.org/drawingml/2006/main">
              <a:ext uri="{FF2B5EF4-FFF2-40B4-BE49-F238E27FC236}">
                <a16:creationId xmlns:a16="http://schemas.microsoft.com/office/drawing/2014/main" id="{40FFF7CD-75D4-4F53-AE4C-E2B81DBF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Catch-up is read-only. Handoff is the governed write path.</a:t>
            </a:r>
          </a:p>
        </p:txBody>
      </p:sp>
      <p:sp>
        <p:nvSpPr>
          <p:cNvPr id="20" name="value">
            <a:extLst xmlns:a="http://schemas.openxmlformats.org/drawingml/2006/main">
              <a:ext uri="{FF2B5EF4-FFF2-40B4-BE49-F238E27FC236}">
                <a16:creationId xmlns:a16="http://schemas.microsoft.com/office/drawing/2014/main" id="{C9707E77-98A7-4B51-969D-DF4BE77E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070"/>
                </a:solidFill>
              </a:defRPr>
            </a:pPr>
            <a:r>
              <a:rPr sz="1425" b="0">
                <a:solidFill>
                  <a:srgbClr val="526070"/>
                </a:solidFill>
              </a:rPr>
              <a:t>New people can answer “what happened, what matters, and what is next?” without restarting discovery.</a:t>
            </a:r>
          </a:p>
        </p:txBody>
      </p:sp>
    </p:spTree>
    <p:extLst>
      <p:ext uri="{BB962C8B-B14F-4D97-AF65-F5344CB8AC3E}">
        <p14:creationId xmlns:p14="http://schemas.microsoft.com/office/powerpoint/2010/main" val="860166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kicker">
            <a:extLst xmlns:a="http://schemas.openxmlformats.org/drawingml/2006/main">
              <a:ext uri="{FF2B5EF4-FFF2-40B4-BE49-F238E27FC236}">
                <a16:creationId xmlns:a16="http://schemas.microsoft.com/office/drawing/2014/main" id="{F3C6A366-417F-4695-A4ED-95391371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AWS ARCHITECTURE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DEEF7FF-BB5D-4C2B-86ED-82E60985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One durable pipeline. Two governed AI paths.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CB73AC6-AADF-48D0-B8C2-E36C3864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70"/>
                </a:solidFill>
              </a:defRPr>
            </a:pPr>
            <a:r>
              <a:rPr sz="975" b="1">
                <a:solidFill>
                  <a:srgbClr val="526070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60029-29D6-471A-AFA8-E3C4F2F4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5" name="edge-band">
            <a:extLst xmlns:a="http://schemas.openxmlformats.org/drawingml/2006/main">
              <a:ext uri="{FF2B5EF4-FFF2-40B4-BE49-F238E27FC236}">
                <a16:creationId xmlns:a16="http://schemas.microsoft.com/office/drawing/2014/main" id="{C612CC41-8C16-43C5-9DF4-E27B9FB5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400300" cy="43243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6" name="pipeline-band">
            <a:extLst xmlns:a="http://schemas.openxmlformats.org/drawingml/2006/main">
              <a:ext uri="{FF2B5EF4-FFF2-40B4-BE49-F238E27FC236}">
                <a16:creationId xmlns:a16="http://schemas.microsoft.com/office/drawing/2014/main" id="{AB9C6AB2-B3AB-42FA-99F6-204ADEA2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19250"/>
            <a:ext cx="470535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7" name="ai-band">
            <a:extLst xmlns:a="http://schemas.openxmlformats.org/drawingml/2006/main">
              <a:ext uri="{FF2B5EF4-FFF2-40B4-BE49-F238E27FC236}">
                <a16:creationId xmlns:a16="http://schemas.microsoft.com/office/drawing/2014/main" id="{501CF3D5-E4A9-4DFA-8E43-0C29840D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3600450" cy="43243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edge-label">
            <a:extLst xmlns:a="http://schemas.openxmlformats.org/drawingml/2006/main">
              <a:ext uri="{FF2B5EF4-FFF2-40B4-BE49-F238E27FC236}">
                <a16:creationId xmlns:a16="http://schemas.microsoft.com/office/drawing/2014/main" id="{26376CFB-AB27-43C8-A590-2C9D0EBA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EBA"/>
                </a:solidFill>
              </a:defRPr>
            </a:pPr>
            <a:r>
              <a:rPr sz="900" b="1">
                <a:solidFill>
                  <a:srgbClr val="147EBA"/>
                </a:solidFill>
              </a:rPr>
              <a:t>EXPERIENCE + ACCESS</a:t>
            </a:r>
          </a:p>
        </p:txBody>
      </p:sp>
      <p:sp>
        <p:nvSpPr>
          <p:cNvPr id="9" name="pipe-label">
            <a:extLst xmlns:a="http://schemas.openxmlformats.org/drawingml/2006/main">
              <a:ext uri="{FF2B5EF4-FFF2-40B4-BE49-F238E27FC236}">
                <a16:creationId xmlns:a16="http://schemas.microsoft.com/office/drawing/2014/main" id="{77EAD25D-F30C-4571-841E-D650FA0E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52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EBA"/>
                </a:solidFill>
              </a:defRPr>
            </a:pPr>
            <a:r>
              <a:rPr sz="900" b="1">
                <a:solidFill>
                  <a:srgbClr val="147EBA"/>
                </a:solidFill>
              </a:rPr>
              <a:t>DURABLE JOB PIPELINE</a:t>
            </a:r>
          </a:p>
        </p:txBody>
      </p:sp>
      <p:sp>
        <p:nvSpPr>
          <p:cNvPr id="10" name="ai-label">
            <a:extLst xmlns:a="http://schemas.openxmlformats.org/drawingml/2006/main">
              <a:ext uri="{FF2B5EF4-FFF2-40B4-BE49-F238E27FC236}">
                <a16:creationId xmlns:a16="http://schemas.microsoft.com/office/drawing/2014/main" id="{C521654B-4709-4A35-896E-5DE23764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6B00"/>
                </a:solidFill>
              </a:defRPr>
            </a:pPr>
            <a:r>
              <a:rPr sz="900" b="1">
                <a:solidFill>
                  <a:srgbClr val="B86B00"/>
                </a:solidFill>
              </a:rPr>
              <a:t>GOVERNED AI + DATA</a:t>
            </a:r>
          </a:p>
        </p:txBody>
      </p:sp>
      <p:sp>
        <p:nvSpPr>
          <p:cNvPr id="11" name="node-cloudfront-82-224">
            <a:extLst xmlns:a="http://schemas.openxmlformats.org/drawingml/2006/main">
              <a:ext uri="{FF2B5EF4-FFF2-40B4-BE49-F238E27FC236}">
                <a16:creationId xmlns:a16="http://schemas.microsoft.com/office/drawing/2014/main" id="{7392585E-0696-4DA8-9514-8772F799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98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4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e642f5d734418"/>
          <a:stretch xmlns:a="http://schemas.openxmlformats.org/drawingml/2006/main"/>
        </p:blipFill>
        <p:spPr>
          <a:xfrm xmlns:a="http://schemas.openxmlformats.org/drawingml/2006/main">
            <a:off x="895350" y="22669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3" name="node-label-cloudfront-82">
            <a:extLst xmlns:a="http://schemas.openxmlformats.org/drawingml/2006/main">
              <a:ext uri="{FF2B5EF4-FFF2-40B4-BE49-F238E27FC236}">
                <a16:creationId xmlns:a16="http://schemas.microsoft.com/office/drawing/2014/main" id="{FC64EEE6-8CF0-4752-A172-1A088B61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479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CloudFront</a:t>
            </a:r>
          </a:p>
        </p:txBody>
      </p:sp>
      <p:sp>
        <p:nvSpPr>
          <p:cNvPr id="14" name="node-sub-cloudfront-82">
            <a:extLst xmlns:a="http://schemas.openxmlformats.org/drawingml/2006/main">
              <a:ext uri="{FF2B5EF4-FFF2-40B4-BE49-F238E27FC236}">
                <a16:creationId xmlns:a16="http://schemas.microsoft.com/office/drawing/2014/main" id="{67382908-E0DF-4B8D-9E55-13D34688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HTTPS + WAF</a:t>
            </a:r>
          </a:p>
        </p:txBody>
      </p:sp>
      <p:sp>
        <p:nvSpPr>
          <p:cNvPr id="15" name="node-s3-82-338">
            <a:extLst xmlns:a="http://schemas.openxmlformats.org/drawingml/2006/main">
              <a:ext uri="{FF2B5EF4-FFF2-40B4-BE49-F238E27FC236}">
                <a16:creationId xmlns:a16="http://schemas.microsoft.com/office/drawing/2014/main" id="{E4904A22-EB3D-4EF9-B42E-738FB5EB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98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4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decdfbef949b1"/>
          <a:stretch xmlns:a="http://schemas.openxmlformats.org/drawingml/2006/main"/>
        </p:blipFill>
        <p:spPr>
          <a:xfrm xmlns:a="http://schemas.openxmlformats.org/drawingml/2006/main">
            <a:off x="895350" y="33528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7" name="node-label-s3-82">
            <a:extLst xmlns:a="http://schemas.openxmlformats.org/drawingml/2006/main">
              <a:ext uri="{FF2B5EF4-FFF2-40B4-BE49-F238E27FC236}">
                <a16:creationId xmlns:a16="http://schemas.microsoft.com/office/drawing/2014/main" id="{189C1594-1217-4F5B-993A-C926A6ED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Private S3</a:t>
            </a:r>
          </a:p>
        </p:txBody>
      </p:sp>
      <p:sp>
        <p:nvSpPr>
          <p:cNvPr id="18" name="node-sub-s3-82">
            <a:extLst xmlns:a="http://schemas.openxmlformats.org/drawingml/2006/main">
              <a:ext uri="{FF2B5EF4-FFF2-40B4-BE49-F238E27FC236}">
                <a16:creationId xmlns:a16="http://schemas.microsoft.com/office/drawing/2014/main" id="{8EB54205-2C6B-4902-AD63-9CCA4AED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React build via OAC</a:t>
            </a:r>
          </a:p>
        </p:txBody>
      </p:sp>
      <p:sp>
        <p:nvSpPr>
          <p:cNvPr id="19" name="node-cognito-82-452">
            <a:extLst xmlns:a="http://schemas.openxmlformats.org/drawingml/2006/main">
              <a:ext uri="{FF2B5EF4-FFF2-40B4-BE49-F238E27FC236}">
                <a16:creationId xmlns:a16="http://schemas.microsoft.com/office/drawing/2014/main" id="{1B937385-92FD-4803-B8DE-BB04E17F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981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6F1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e62f9bc844f52"/>
          <a:stretch xmlns:a="http://schemas.openxmlformats.org/drawingml/2006/main"/>
        </p:blipFill>
        <p:spPr>
          <a:xfrm xmlns:a="http://schemas.openxmlformats.org/drawingml/2006/main">
            <a:off x="895350" y="44386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1" name="node-label-cognito-82">
            <a:extLst xmlns:a="http://schemas.openxmlformats.org/drawingml/2006/main">
              <a:ext uri="{FF2B5EF4-FFF2-40B4-BE49-F238E27FC236}">
                <a16:creationId xmlns:a16="http://schemas.microsoft.com/office/drawing/2014/main" id="{E4CEB4B9-0E95-4E63-A745-B01CAB9D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96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Cognito</a:t>
            </a:r>
          </a:p>
        </p:txBody>
      </p:sp>
      <p:sp>
        <p:nvSpPr>
          <p:cNvPr id="22" name="node-sub-cognito-82">
            <a:extLst xmlns:a="http://schemas.openxmlformats.org/drawingml/2006/main">
              <a:ext uri="{FF2B5EF4-FFF2-40B4-BE49-F238E27FC236}">
                <a16:creationId xmlns:a16="http://schemas.microsoft.com/office/drawing/2014/main" id="{76E6EF52-359D-442E-A88A-5039F9B3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Temporary AWS credentials</a:t>
            </a:r>
          </a:p>
        </p:txBody>
      </p:sp>
      <p:sp>
        <p:nvSpPr>
          <p:cNvPr id="23" name="node-api-350-224">
            <a:extLst xmlns:a="http://schemas.openxmlformats.org/drawingml/2006/main">
              <a:ext uri="{FF2B5EF4-FFF2-40B4-BE49-F238E27FC236}">
                <a16:creationId xmlns:a16="http://schemas.microsoft.com/office/drawing/2014/main" id="{9DED6888-46CB-4CC7-8D93-714B90AC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ec98dc5334f49"/>
          <a:stretch xmlns:a="http://schemas.openxmlformats.org/drawingml/2006/main"/>
        </p:blipFill>
        <p:spPr>
          <a:xfrm xmlns:a="http://schemas.openxmlformats.org/drawingml/2006/main">
            <a:off x="3448050" y="22669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5" name="node-label-api-350">
            <a:extLst xmlns:a="http://schemas.openxmlformats.org/drawingml/2006/main">
              <a:ext uri="{FF2B5EF4-FFF2-40B4-BE49-F238E27FC236}">
                <a16:creationId xmlns:a16="http://schemas.microsoft.com/office/drawing/2014/main" id="{168B7923-F388-43A0-93AC-645874A2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479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API Gateway</a:t>
            </a:r>
          </a:p>
        </p:txBody>
      </p:sp>
      <p:sp>
        <p:nvSpPr>
          <p:cNvPr id="26" name="node-sub-api-350">
            <a:extLst xmlns:a="http://schemas.openxmlformats.org/drawingml/2006/main">
              <a:ext uri="{FF2B5EF4-FFF2-40B4-BE49-F238E27FC236}">
                <a16:creationId xmlns:a16="http://schemas.microsoft.com/office/drawing/2014/main" id="{6056A73A-9745-429B-9DC3-86ED1C41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432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IAM / SigV4 jobs API</a:t>
            </a:r>
          </a:p>
        </p:txBody>
      </p:sp>
      <p:sp>
        <p:nvSpPr>
          <p:cNvPr id="27" name="node-lambda-508-224">
            <a:extLst xmlns:a="http://schemas.openxmlformats.org/drawingml/2006/main">
              <a:ext uri="{FF2B5EF4-FFF2-40B4-BE49-F238E27FC236}">
                <a16:creationId xmlns:a16="http://schemas.microsoft.com/office/drawing/2014/main" id="{864267CF-73B3-47F9-B338-FE0BD651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3360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f82107e4842b5"/>
          <a:stretch xmlns:a="http://schemas.openxmlformats.org/drawingml/2006/main"/>
        </p:blipFill>
        <p:spPr>
          <a:xfrm xmlns:a="http://schemas.openxmlformats.org/drawingml/2006/main">
            <a:off x="4953000" y="22669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9" name="node-label-lambda-508">
            <a:extLst xmlns:a="http://schemas.openxmlformats.org/drawingml/2006/main">
              <a:ext uri="{FF2B5EF4-FFF2-40B4-BE49-F238E27FC236}">
                <a16:creationId xmlns:a16="http://schemas.microsoft.com/office/drawing/2014/main" id="{DBE7E851-982E-42A9-81D1-2C342B50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479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Jobs Lambda</a:t>
            </a:r>
          </a:p>
        </p:txBody>
      </p:sp>
      <p:sp>
        <p:nvSpPr>
          <p:cNvPr id="30" name="node-sub-lambda-508">
            <a:extLst xmlns:a="http://schemas.openxmlformats.org/drawingml/2006/main">
              <a:ext uri="{FF2B5EF4-FFF2-40B4-BE49-F238E27FC236}">
                <a16:creationId xmlns:a16="http://schemas.microsoft.com/office/drawing/2014/main" id="{4241BEAA-2147-4B30-AD12-ADA76A22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432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Validate + enqueue</a:t>
            </a:r>
          </a:p>
        </p:txBody>
      </p:sp>
      <p:sp>
        <p:nvSpPr>
          <p:cNvPr id="31" name="node-sqs-666-224">
            <a:extLst xmlns:a="http://schemas.openxmlformats.org/drawingml/2006/main">
              <a:ext uri="{FF2B5EF4-FFF2-40B4-BE49-F238E27FC236}">
                <a16:creationId xmlns:a16="http://schemas.microsoft.com/office/drawing/2014/main" id="{45274B23-C311-4E80-A876-6FBCCF0B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7576a4df84072"/>
          <a:stretch xmlns:a="http://schemas.openxmlformats.org/drawingml/2006/main"/>
        </p:blipFill>
        <p:spPr>
          <a:xfrm xmlns:a="http://schemas.openxmlformats.org/drawingml/2006/main">
            <a:off x="6457950" y="22669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3" name="node-label-sqs-666">
            <a:extLst xmlns:a="http://schemas.openxmlformats.org/drawingml/2006/main">
              <a:ext uri="{FF2B5EF4-FFF2-40B4-BE49-F238E27FC236}">
                <a16:creationId xmlns:a16="http://schemas.microsoft.com/office/drawing/2014/main" id="{197DA95D-2071-4B88-BCC1-9848EA9A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479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SQS + DLQ</a:t>
            </a:r>
          </a:p>
        </p:txBody>
      </p:sp>
      <p:sp>
        <p:nvSpPr>
          <p:cNvPr id="34" name="node-sub-sqs-666">
            <a:extLst xmlns:a="http://schemas.openxmlformats.org/drawingml/2006/main">
              <a:ext uri="{FF2B5EF4-FFF2-40B4-BE49-F238E27FC236}">
                <a16:creationId xmlns:a16="http://schemas.microsoft.com/office/drawing/2014/main" id="{629F8A8B-AB97-44F2-88ED-95A4BE68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Pointer-only messages</a:t>
            </a:r>
          </a:p>
        </p:txBody>
      </p:sp>
      <p:sp>
        <p:nvSpPr>
          <p:cNvPr id="35" name="node-lambda-508-386">
            <a:extLst xmlns:a="http://schemas.openxmlformats.org/drawingml/2006/main">
              <a:ext uri="{FF2B5EF4-FFF2-40B4-BE49-F238E27FC236}">
                <a16:creationId xmlns:a16="http://schemas.microsoft.com/office/drawing/2014/main" id="{06119BAB-628B-4C18-A2B0-178396E8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7665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6da4ba3f44392"/>
          <a:stretch xmlns:a="http://schemas.openxmlformats.org/drawingml/2006/main"/>
        </p:blipFill>
        <p:spPr>
          <a:xfrm xmlns:a="http://schemas.openxmlformats.org/drawingml/2006/main">
            <a:off x="4953000" y="3810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7" name="node-label-lambda-508">
            <a:extLst xmlns:a="http://schemas.openxmlformats.org/drawingml/2006/main">
              <a:ext uri="{FF2B5EF4-FFF2-40B4-BE49-F238E27FC236}">
                <a16:creationId xmlns:a16="http://schemas.microsoft.com/office/drawing/2014/main" id="{867EB87A-AE74-4FBE-A83B-7885EC5C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909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AI Worker</a:t>
            </a:r>
          </a:p>
        </p:txBody>
      </p:sp>
      <p:sp>
        <p:nvSpPr>
          <p:cNvPr id="38" name="node-sub-lambda-508">
            <a:extLst xmlns:a="http://schemas.openxmlformats.org/drawingml/2006/main">
              <a:ext uri="{FF2B5EF4-FFF2-40B4-BE49-F238E27FC236}">
                <a16:creationId xmlns:a16="http://schemas.microsoft.com/office/drawing/2014/main" id="{151139F7-1360-451F-8190-5819A2C1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Unified action router</a:t>
            </a:r>
          </a:p>
        </p:txBody>
      </p:sp>
      <p:sp>
        <p:nvSpPr>
          <p:cNvPr id="39" name="node-dynamo-350-520">
            <a:extLst xmlns:a="http://schemas.openxmlformats.org/drawingml/2006/main">
              <a:ext uri="{FF2B5EF4-FFF2-40B4-BE49-F238E27FC236}">
                <a16:creationId xmlns:a16="http://schemas.microsoft.com/office/drawing/2014/main" id="{91634FE0-41CC-4A7D-B389-8C2689C5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1619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6F1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c763640d44db5"/>
          <a:stretch xmlns:a="http://schemas.openxmlformats.org/drawingml/2006/main"/>
        </p:blipFill>
        <p:spPr>
          <a:xfrm xmlns:a="http://schemas.openxmlformats.org/drawingml/2006/main">
            <a:off x="3448050" y="50863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41" name="node-label-dynamo-350">
            <a:extLst xmlns:a="http://schemas.openxmlformats.org/drawingml/2006/main">
              <a:ext uri="{FF2B5EF4-FFF2-40B4-BE49-F238E27FC236}">
                <a16:creationId xmlns:a16="http://schemas.microsoft.com/office/drawing/2014/main" id="{D37ED025-201F-41D4-9501-6E1DC6FD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67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DynamoDB</a:t>
            </a:r>
          </a:p>
        </p:txBody>
      </p:sp>
      <p:sp>
        <p:nvSpPr>
          <p:cNvPr id="42" name="node-sub-dynamo-350">
            <a:extLst xmlns:a="http://schemas.openxmlformats.org/drawingml/2006/main">
              <a:ext uri="{FF2B5EF4-FFF2-40B4-BE49-F238E27FC236}">
                <a16:creationId xmlns:a16="http://schemas.microsoft.com/office/drawing/2014/main" id="{C51DB661-1196-4C8E-863B-6C0A7965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721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Jobs + state + pointers</a:t>
            </a:r>
          </a:p>
        </p:txBody>
      </p:sp>
      <p:sp>
        <p:nvSpPr>
          <p:cNvPr id="43" name="node-s3-548-520">
            <a:extLst xmlns:a="http://schemas.openxmlformats.org/drawingml/2006/main">
              <a:ext uri="{FF2B5EF4-FFF2-40B4-BE49-F238E27FC236}">
                <a16:creationId xmlns:a16="http://schemas.microsoft.com/office/drawing/2014/main" id="{F3F0BC66-519F-4F27-8C2F-84A0A9EC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1619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6F1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516cda1e14477"/>
          <a:stretch xmlns:a="http://schemas.openxmlformats.org/drawingml/2006/main"/>
        </p:blipFill>
        <p:spPr>
          <a:xfrm xmlns:a="http://schemas.openxmlformats.org/drawingml/2006/main">
            <a:off x="5334000" y="50863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45" name="node-label-s3-548">
            <a:extLst xmlns:a="http://schemas.openxmlformats.org/drawingml/2006/main">
              <a:ext uri="{FF2B5EF4-FFF2-40B4-BE49-F238E27FC236}">
                <a16:creationId xmlns:a16="http://schemas.microsoft.com/office/drawing/2014/main" id="{04915901-761E-4422-8AF9-62B13978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67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Artifact S3</a:t>
            </a:r>
          </a:p>
        </p:txBody>
      </p:sp>
      <p:sp>
        <p:nvSpPr>
          <p:cNvPr id="46" name="node-sub-s3-548">
            <a:extLst xmlns:a="http://schemas.openxmlformats.org/drawingml/2006/main">
              <a:ext uri="{FF2B5EF4-FFF2-40B4-BE49-F238E27FC236}">
                <a16:creationId xmlns:a16="http://schemas.microsoft.com/office/drawing/2014/main" id="{0DF7E7F1-4A27-4176-B3F7-132CEA35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721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Latest JSON + DOCX</a:t>
            </a:r>
          </a:p>
        </p:txBody>
      </p:sp>
      <p:sp>
        <p:nvSpPr>
          <p:cNvPr id="47" name="node-bedrock-864-230">
            <a:extLst xmlns:a="http://schemas.openxmlformats.org/drawingml/2006/main">
              <a:ext uri="{FF2B5EF4-FFF2-40B4-BE49-F238E27FC236}">
                <a16:creationId xmlns:a16="http://schemas.microsoft.com/office/drawing/2014/main" id="{0AB6F447-8E92-42C4-AC0A-FFF6B6CA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15049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335fbb580440b"/>
          <a:stretch xmlns:a="http://schemas.openxmlformats.org/drawingml/2006/main"/>
        </p:blipFill>
        <p:spPr>
          <a:xfrm xmlns:a="http://schemas.openxmlformats.org/drawingml/2006/main">
            <a:off x="8343900" y="23241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49" name="node-label-bedrock-864">
            <a:extLst xmlns:a="http://schemas.openxmlformats.org/drawingml/2006/main">
              <a:ext uri="{FF2B5EF4-FFF2-40B4-BE49-F238E27FC236}">
                <a16:creationId xmlns:a16="http://schemas.microsoft.com/office/drawing/2014/main" id="{AAA6FAAD-8F9A-4F34-BBF4-31C84AEC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Bedrock Nova</a:t>
            </a:r>
          </a:p>
        </p:txBody>
      </p:sp>
      <p:sp>
        <p:nvSpPr>
          <p:cNvPr id="50" name="node-sub-bedrock-864">
            <a:extLst xmlns:a="http://schemas.openxmlformats.org/drawingml/2006/main">
              <a:ext uri="{FF2B5EF4-FFF2-40B4-BE49-F238E27FC236}">
                <a16:creationId xmlns:a16="http://schemas.microsoft.com/office/drawing/2014/main" id="{2883972F-C662-4366-84BD-B3814546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Generate + refine</a:t>
            </a:r>
          </a:p>
        </p:txBody>
      </p:sp>
      <p:sp>
        <p:nvSpPr>
          <p:cNvPr id="51" name="node-agentcore-1040-230">
            <a:extLst xmlns:a="http://schemas.openxmlformats.org/drawingml/2006/main">
              <a:ext uri="{FF2B5EF4-FFF2-40B4-BE49-F238E27FC236}">
                <a16:creationId xmlns:a16="http://schemas.microsoft.com/office/drawing/2014/main" id="{25E907E1-B013-4F37-84D7-3A2E8B54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90750"/>
            <a:ext cx="15049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c948ac6df4e78"/>
          <a:stretch xmlns:a="http://schemas.openxmlformats.org/drawingml/2006/main"/>
        </p:blipFill>
        <p:spPr>
          <a:xfrm xmlns:a="http://schemas.openxmlformats.org/drawingml/2006/main">
            <a:off x="10020300" y="23241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53" name="node-label-agentcore-1040">
            <a:extLst xmlns:a="http://schemas.openxmlformats.org/drawingml/2006/main">
              <a:ext uri="{FF2B5EF4-FFF2-40B4-BE49-F238E27FC236}">
                <a16:creationId xmlns:a16="http://schemas.microsoft.com/office/drawing/2014/main" id="{8F1F9791-6038-45E8-929C-677C4D7C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050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AgentCore</a:t>
            </a:r>
          </a:p>
        </p:txBody>
      </p:sp>
      <p:sp>
        <p:nvSpPr>
          <p:cNvPr id="54" name="node-sub-agentcore-1040">
            <a:extLst xmlns:a="http://schemas.openxmlformats.org/drawingml/2006/main">
              <a:ext uri="{FF2B5EF4-FFF2-40B4-BE49-F238E27FC236}">
                <a16:creationId xmlns:a16="http://schemas.microsoft.com/office/drawing/2014/main" id="{E2C2F16E-5AD3-45F7-A38A-3896D2BF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384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Handoff + catch-up</a:t>
            </a:r>
          </a:p>
        </p:txBody>
      </p:sp>
      <p:sp>
        <p:nvSpPr>
          <p:cNvPr id="55" name="node-lambda-950-382">
            <a:extLst xmlns:a="http://schemas.openxmlformats.org/drawingml/2006/main">
              <a:ext uri="{FF2B5EF4-FFF2-40B4-BE49-F238E27FC236}">
                <a16:creationId xmlns:a16="http://schemas.microsoft.com/office/drawing/2014/main" id="{E115E3FB-B32E-42A3-8C18-ECF2FB92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1504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cd739170d46a5"/>
          <a:stretch xmlns:a="http://schemas.openxmlformats.org/drawingml/2006/main"/>
        </p:blipFill>
        <p:spPr>
          <a:xfrm xmlns:a="http://schemas.openxmlformats.org/drawingml/2006/main">
            <a:off x="9163050" y="37719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57" name="node-label-lambda-950">
            <a:extLst xmlns:a="http://schemas.openxmlformats.org/drawingml/2006/main">
              <a:ext uri="{FF2B5EF4-FFF2-40B4-BE49-F238E27FC236}">
                <a16:creationId xmlns:a16="http://schemas.microsoft.com/office/drawing/2014/main" id="{9A6E895F-D78F-4EB0-9546-AE87457B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528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Tool Lambda</a:t>
            </a:r>
          </a:p>
        </p:txBody>
      </p:sp>
      <p:sp>
        <p:nvSpPr>
          <p:cNvPr id="58" name="node-sub-lambda-950">
            <a:extLst xmlns:a="http://schemas.openxmlformats.org/drawingml/2006/main">
              <a:ext uri="{FF2B5EF4-FFF2-40B4-BE49-F238E27FC236}">
                <a16:creationId xmlns:a16="http://schemas.microsoft.com/office/drawing/2014/main" id="{E2BA0F9D-0A5A-4154-91B7-4CCE8EC8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100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Governed reads / writes</a:t>
            </a:r>
          </a:p>
        </p:txBody>
      </p:sp>
      <p:sp>
        <p:nvSpPr>
          <p:cNvPr id="59" name="node-cloudwatch-940-512">
            <a:extLst xmlns:a="http://schemas.openxmlformats.org/drawingml/2006/main">
              <a:ext uri="{FF2B5EF4-FFF2-40B4-BE49-F238E27FC236}">
                <a16:creationId xmlns:a16="http://schemas.microsoft.com/office/drawing/2014/main" id="{8D5A5F8C-4FC1-431B-BA3D-D7F7076F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76800"/>
            <a:ext cx="171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4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281903b7144cd"/>
          <a:stretch xmlns:a="http://schemas.openxmlformats.org/drawingml/2006/main"/>
        </p:blipFill>
        <p:spPr>
          <a:xfrm xmlns:a="http://schemas.openxmlformats.org/drawingml/2006/main">
            <a:off x="9067800" y="50101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61" name="node-label-cloudwatch-940">
            <a:extLst xmlns:a="http://schemas.openxmlformats.org/drawingml/2006/main">
              <a:ext uri="{FF2B5EF4-FFF2-40B4-BE49-F238E27FC236}">
                <a16:creationId xmlns:a16="http://schemas.microsoft.com/office/drawing/2014/main" id="{9ED2A244-1B53-469C-92FC-CDD12181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911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CloudWatch</a:t>
            </a:r>
          </a:p>
        </p:txBody>
      </p:sp>
      <p:sp>
        <p:nvSpPr>
          <p:cNvPr id="62" name="node-sub-cloudwatch-940">
            <a:extLst xmlns:a="http://schemas.openxmlformats.org/drawingml/2006/main">
              <a:ext uri="{FF2B5EF4-FFF2-40B4-BE49-F238E27FC236}">
                <a16:creationId xmlns:a16="http://schemas.microsoft.com/office/drawing/2014/main" id="{F37A3336-1C72-4667-BEF4-A6391872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340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Logs, metrics, alarms</a:t>
            </a:r>
          </a:p>
        </p:txBody>
      </p:sp>
      <p:cxnSp>
        <p:nvCxnSpPr>
          <p:cNvPr id="140" name=""/>
          <p:cNvCxnSpPr>
            <a:stCxn xmlns:a="http://schemas.openxmlformats.org/drawingml/2006/main" id="1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762250" y="2590800"/>
            <a:ext cx="5715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447"/>
            </a:solidFill>
            <a:prstDash val="solid"/>
            <a:tailEnd type="arrow" w="sm" len="sm"/>
          </a:ln>
        </p:spPr>
      </p:cxnSp>
      <p:cxnSp>
        <p:nvCxnSpPr>
          <p:cNvPr id="141" name=""/>
          <p:cNvCxnSpPr>
            <a:stCxn xmlns:a="http://schemas.openxmlformats.org/drawingml/2006/main" id="15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1771650" y="30480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EBA"/>
            </a:solidFill>
            <a:prstDash val="solid"/>
            <a:tailEnd type="arrow" w="sm" len="sm"/>
          </a:ln>
        </p:spPr>
      </p:cxnSp>
      <p:cxnSp>
        <p:nvCxnSpPr>
          <p:cNvPr id="142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2762250" y="2628900"/>
            <a:ext cx="571500" cy="2133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856B"/>
            </a:solidFill>
            <a:prstDash val="dash"/>
            <a:tailEnd type="arrow" w="sm" len="sm"/>
          </a:ln>
        </p:spPr>
      </p:cxnSp>
      <p:cxnSp>
        <p:nvCxnSpPr>
          <p:cNvPr id="143" name=""/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6482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447"/>
            </a:solidFill>
            <a:prstDash val="solid"/>
            <a:tailEnd type="arrow" w="sm" len="sm"/>
          </a:ln>
        </p:spPr>
      </p:cxnSp>
      <p:cxnSp>
        <p:nvCxnSpPr>
          <p:cNvPr id="144" name=""/>
          <p:cNvCxnSpPr>
            <a:stCxn xmlns:a="http://schemas.openxmlformats.org/drawingml/2006/main" id="27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61531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447"/>
            </a:solidFill>
            <a:prstDash val="solid"/>
            <a:tailEnd type="arrow" w="sm" len="sm"/>
          </a:ln>
        </p:spPr>
      </p:cxnSp>
      <p:cxnSp>
        <p:nvCxnSpPr>
          <p:cNvPr id="145" name=""/>
          <p:cNvCxnSpPr>
            <a:stCxn xmlns:a="http://schemas.openxmlformats.org/drawingml/2006/main" id="31" idx="2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6153150" y="3124200"/>
            <a:ext cx="847725" cy="10477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8575">
            <a:solidFill>
              <a:srgbClr val="FF9900"/>
            </a:solidFill>
            <a:prstDash val="solid"/>
            <a:tailEnd type="arrow" w="med" len="med"/>
          </a:ln>
        </p:spPr>
      </p:cxnSp>
      <p:cxnSp>
        <p:nvCxnSpPr>
          <p:cNvPr id="146" name=""/>
          <p:cNvCxnSpPr>
            <a:stCxn xmlns:a="http://schemas.openxmlformats.org/drawingml/2006/main" id="35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6153150" y="2705100"/>
            <a:ext cx="2076450" cy="1466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FF9900"/>
            </a:solidFill>
            <a:prstDash val="solid"/>
            <a:tailEnd type="arrow" w="med" len="med"/>
          </a:ln>
        </p:spPr>
      </p:cxnSp>
      <p:cxnSp>
        <p:nvCxnSpPr>
          <p:cNvPr id="147" name=""/>
          <p:cNvCxnSpPr>
            <a:stCxn xmlns:a="http://schemas.openxmlformats.org/drawingml/2006/main" id="35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 flipV="1">
            <a:off x="6153150" y="2705100"/>
            <a:ext cx="3752850" cy="1466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FF9900"/>
            </a:solidFill>
            <a:prstDash val="solid"/>
            <a:tailEnd type="arrow" w="med" len="med"/>
          </a:ln>
        </p:spPr>
      </p:cxnSp>
      <p:cxnSp>
        <p:nvCxnSpPr>
          <p:cNvPr id="148" name=""/>
          <p:cNvCxnSpPr>
            <a:stCxn xmlns:a="http://schemas.openxmlformats.org/drawingml/2006/main" id="51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 flipH="1">
            <a:off x="9801225" y="3219450"/>
            <a:ext cx="85725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3447"/>
            </a:solidFill>
            <a:prstDash val="solid"/>
            <a:tailEnd type="arrow" w="sm" len="sm"/>
          </a:ln>
        </p:spPr>
      </p:cxnSp>
      <p:cxnSp>
        <p:nvCxnSpPr>
          <p:cNvPr id="149" name=""/>
          <p:cNvCxnSpPr>
            <a:stCxn xmlns:a="http://schemas.openxmlformats.org/drawingml/2006/main" id="35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 flipH="1">
            <a:off x="4143375" y="4667250"/>
            <a:ext cx="1352550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6856B"/>
            </a:solidFill>
            <a:prstDash val="solid"/>
            <a:tailEnd type="arrow" w="sm" len="sm"/>
          </a:ln>
        </p:spPr>
      </p:cxnSp>
      <p:cxnSp>
        <p:nvCxnSpPr>
          <p:cNvPr id="150" name=""/>
          <p:cNvCxnSpPr>
            <a:stCxn xmlns:a="http://schemas.openxmlformats.org/drawingml/2006/main" id="35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5495925" y="4667250"/>
            <a:ext cx="5334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56B"/>
            </a:solidFill>
            <a:prstDash val="solid"/>
            <a:tailEnd type="arrow" w="sm" len="sm"/>
          </a:ln>
        </p:spPr>
      </p:cxnSp>
      <p:cxnSp>
        <p:nvCxnSpPr>
          <p:cNvPr id="151" name=""/>
          <p:cNvCxnSpPr>
            <a:stCxn xmlns:a="http://schemas.openxmlformats.org/drawingml/2006/main" id="55" idx="1"/>
            <a:endCxn xmlns:a="http://schemas.openxmlformats.org/drawingml/2006/main" id="39" idx="3"/>
          </p:cNvCxnSpPr>
          <p:nvPr/>
        </p:nvCxnSpPr>
        <p:spPr>
          <a:xfrm xmlns:a="http://schemas.openxmlformats.org/drawingml/2006/main" flipH="1">
            <a:off x="4953000" y="4114800"/>
            <a:ext cx="409575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856B"/>
            </a:solidFill>
            <a:prstDash val="dash"/>
            <a:tailEnd type="arrow" w="sm" len="sm"/>
          </a:ln>
        </p:spPr>
      </p:cxnSp>
      <p:cxnSp>
        <p:nvCxnSpPr>
          <p:cNvPr id="152" name=""/>
          <p:cNvCxnSpPr>
            <a:stCxn xmlns:a="http://schemas.openxmlformats.org/drawingml/2006/main" id="55" idx="1"/>
            <a:endCxn xmlns:a="http://schemas.openxmlformats.org/drawingml/2006/main" id="43" idx="3"/>
          </p:cNvCxnSpPr>
          <p:nvPr/>
        </p:nvCxnSpPr>
        <p:spPr>
          <a:xfrm xmlns:a="http://schemas.openxmlformats.org/drawingml/2006/main" flipH="1">
            <a:off x="6838950" y="4114800"/>
            <a:ext cx="220980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856B"/>
            </a:solidFill>
            <a:prstDash val="dash"/>
            <a:tailEnd type="arrow" w="sm" len="sm"/>
          </a:ln>
        </p:spPr>
      </p:cxnSp>
      <p:sp>
        <p:nvSpPr>
          <p:cNvPr id="76" name="branch1">
            <a:extLst xmlns:a="http://schemas.openxmlformats.org/drawingml/2006/main">
              <a:ext uri="{FF2B5EF4-FFF2-40B4-BE49-F238E27FC236}">
                <a16:creationId xmlns:a16="http://schemas.microsoft.com/office/drawing/2014/main" id="{11401274-1978-4184-B8AD-250182C9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6B00"/>
                </a:solidFill>
              </a:defRPr>
            </a:pPr>
            <a:r>
              <a:rPr sz="900" b="1">
                <a:solidFill>
                  <a:srgbClr val="B86B00"/>
                </a:solidFill>
              </a:rPr>
              <a:t>BRIEFS</a:t>
            </a:r>
          </a:p>
        </p:txBody>
      </p:sp>
      <p:sp>
        <p:nvSpPr>
          <p:cNvPr id="77" name="branch2">
            <a:extLst xmlns:a="http://schemas.openxmlformats.org/drawingml/2006/main">
              <a:ext uri="{FF2B5EF4-FFF2-40B4-BE49-F238E27FC236}">
                <a16:creationId xmlns:a16="http://schemas.microsoft.com/office/drawing/2014/main" id="{3D79A538-FF8E-4B99-998B-1A51B690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147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6B00"/>
                </a:solidFill>
              </a:defRPr>
            </a:pPr>
            <a:r>
              <a:rPr sz="900" b="1">
                <a:solidFill>
                  <a:srgbClr val="B86B00"/>
                </a:solidFill>
              </a:rPr>
              <a:t>FOLLOW-ON</a:t>
            </a:r>
          </a:p>
        </p:txBody>
      </p:sp>
    </p:spTree>
    <p:extLst>
      <p:ext uri="{BB962C8B-B14F-4D97-AF65-F5344CB8AC3E}">
        <p14:creationId xmlns:p14="http://schemas.microsoft.com/office/powerpoint/2010/main" val="14447233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F531BFFA-A0DC-4F5E-BF0D-52A846D4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EBA"/>
                </a:solidFill>
              </a:defRPr>
            </a:pPr>
            <a:r>
              <a:rPr sz="1050" b="1">
                <a:solidFill>
                  <a:srgbClr val="147EBA"/>
                </a:solidFill>
              </a:rPr>
              <a:t>WHY THIS WINS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048A94-6C81-4B7B-A029-DA622ED6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Built like a workload — not a prompt demo.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E47CDF1-43D1-45CD-9232-E1A8E217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70"/>
                </a:solidFill>
              </a:defRPr>
            </a:pPr>
            <a:r>
              <a:rPr sz="975" b="1">
                <a:solidFill>
                  <a:srgbClr val="526070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EBEBE-27AE-4279-890C-2207735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5" name="proof-num0">
            <a:extLst xmlns:a="http://schemas.openxmlformats.org/drawingml/2006/main">
              <a:ext uri="{FF2B5EF4-FFF2-40B4-BE49-F238E27FC236}">
                <a16:creationId xmlns:a16="http://schemas.microsoft.com/office/drawing/2014/main" id="{3D99C06B-3821-4F28-80E4-39089BB1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EBA"/>
                </a:solidFill>
              </a:defRPr>
            </a:pPr>
            <a:r>
              <a:rPr sz="1650" b="1">
                <a:solidFill>
                  <a:srgbClr val="147EBA"/>
                </a:solidFill>
              </a:rPr>
              <a:t>1</a:t>
            </a:r>
          </a:p>
        </p:txBody>
      </p:sp>
      <p:sp>
        <p:nvSpPr>
          <p:cNvPr id="6" name="proof-title0">
            <a:extLst xmlns:a="http://schemas.openxmlformats.org/drawingml/2006/main">
              <a:ext uri="{FF2B5EF4-FFF2-40B4-BE49-F238E27FC236}">
                <a16:creationId xmlns:a16="http://schemas.microsoft.com/office/drawing/2014/main" id="{7D43FE5A-D6BC-439C-9C38-DFDFE59A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52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SECURE BY DEFAULT</a:t>
            </a:r>
          </a:p>
        </p:txBody>
      </p:sp>
      <p:sp>
        <p:nvSpPr>
          <p:cNvPr id="7" name="proof-copy0">
            <a:extLst xmlns:a="http://schemas.openxmlformats.org/drawingml/2006/main">
              <a:ext uri="{FF2B5EF4-FFF2-40B4-BE49-F238E27FC236}">
                <a16:creationId xmlns:a16="http://schemas.microsoft.com/office/drawing/2014/main" id="{ADB6B53E-D446-4A3B-8F63-A75D08D2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70"/>
                </a:solidFill>
              </a:defRPr>
            </a:pPr>
            <a:r>
              <a:rPr sz="1575" b="0">
                <a:solidFill>
                  <a:srgbClr val="526070"/>
                </a:solidFill>
              </a:rPr>
              <a:t>Private S3 origins, HTTPS, WAF, IAM/SigV4, Bedrock Guardrails.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5EB08-9F56-4642-B53C-94F3A37D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9" name="proof-num1">
            <a:extLst xmlns:a="http://schemas.openxmlformats.org/drawingml/2006/main">
              <a:ext uri="{FF2B5EF4-FFF2-40B4-BE49-F238E27FC236}">
                <a16:creationId xmlns:a16="http://schemas.microsoft.com/office/drawing/2014/main" id="{C4621118-2230-4B2B-A653-2F2771CC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EBA"/>
                </a:solidFill>
              </a:defRPr>
            </a:pPr>
            <a:r>
              <a:rPr sz="1650" b="1">
                <a:solidFill>
                  <a:srgbClr val="147EBA"/>
                </a:solidFill>
              </a:rPr>
              <a:t>2</a:t>
            </a:r>
          </a:p>
        </p:txBody>
      </p:sp>
      <p:sp>
        <p:nvSpPr>
          <p:cNvPr id="10" name="proof-title1">
            <a:extLst xmlns:a="http://schemas.openxmlformats.org/drawingml/2006/main">
              <a:ext uri="{FF2B5EF4-FFF2-40B4-BE49-F238E27FC236}">
                <a16:creationId xmlns:a16="http://schemas.microsoft.com/office/drawing/2014/main" id="{2CB95FDB-E8C0-4865-A5FC-56717AD9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DURABLE AI WORK</a:t>
            </a:r>
          </a:p>
        </p:txBody>
      </p:sp>
      <p:sp>
        <p:nvSpPr>
          <p:cNvPr id="11" name="proof-copy1">
            <a:extLst xmlns:a="http://schemas.openxmlformats.org/drawingml/2006/main">
              <a:ext uri="{FF2B5EF4-FFF2-40B4-BE49-F238E27FC236}">
                <a16:creationId xmlns:a16="http://schemas.microsoft.com/office/drawing/2014/main" id="{1E3CDB30-92C1-4C2F-8907-B29CBB63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432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70"/>
                </a:solidFill>
              </a:defRPr>
            </a:pPr>
            <a:r>
              <a:rPr sz="1575" b="0">
                <a:solidFill>
                  <a:srgbClr val="526070"/>
                </a:solidFill>
              </a:rPr>
              <a:t>SQS retries and a DLQ absorb variable model latency without blocking the UI.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54827-CD79-468D-B75F-F76C836D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3" name="proof-num2">
            <a:extLst xmlns:a="http://schemas.openxmlformats.org/drawingml/2006/main">
              <a:ext uri="{FF2B5EF4-FFF2-40B4-BE49-F238E27FC236}">
                <a16:creationId xmlns:a16="http://schemas.microsoft.com/office/drawing/2014/main" id="{9D2A2008-6D57-41A2-95DA-F324CCC7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EBA"/>
                </a:solidFill>
              </a:defRPr>
            </a:pPr>
            <a:r>
              <a:rPr sz="1650" b="1">
                <a:solidFill>
                  <a:srgbClr val="147EBA"/>
                </a:solidFill>
              </a:rPr>
              <a:t>3</a:t>
            </a:r>
          </a:p>
        </p:txBody>
      </p:sp>
      <p:sp>
        <p:nvSpPr>
          <p:cNvPr id="14" name="proof-title2">
            <a:extLst xmlns:a="http://schemas.openxmlformats.org/drawingml/2006/main">
              <a:ext uri="{FF2B5EF4-FFF2-40B4-BE49-F238E27FC236}">
                <a16:creationId xmlns:a16="http://schemas.microsoft.com/office/drawing/2014/main" id="{14B0A2C6-9182-4026-9154-95CE281E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GOVERNED STATE</a:t>
            </a:r>
          </a:p>
        </p:txBody>
      </p:sp>
      <p:sp>
        <p:nvSpPr>
          <p:cNvPr id="15" name="proof-copy2">
            <a:extLst xmlns:a="http://schemas.openxmlformats.org/drawingml/2006/main">
              <a:ext uri="{FF2B5EF4-FFF2-40B4-BE49-F238E27FC236}">
                <a16:creationId xmlns:a16="http://schemas.microsoft.com/office/drawing/2014/main" id="{9CC69E19-646F-4235-A0D6-0C81EE82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719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70"/>
                </a:solidFill>
              </a:defRPr>
            </a:pPr>
            <a:r>
              <a:rPr sz="1575" b="0">
                <a:solidFill>
                  <a:srgbClr val="526070"/>
                </a:solidFill>
              </a:rPr>
              <a:t>One DynamoDB table scopes jobs, approvals, project memory, and latest pointers.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F72FC-D5FF-4B96-B00F-61055FD1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529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7" name="proof-num3">
            <a:extLst xmlns:a="http://schemas.openxmlformats.org/drawingml/2006/main">
              <a:ext uri="{FF2B5EF4-FFF2-40B4-BE49-F238E27FC236}">
                <a16:creationId xmlns:a16="http://schemas.microsoft.com/office/drawing/2014/main" id="{6C79801C-5F7B-49F9-8279-AF90FBF8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6B00"/>
                </a:solidFill>
              </a:defRPr>
            </a:pPr>
            <a:r>
              <a:rPr sz="1650" b="1">
                <a:solidFill>
                  <a:srgbClr val="B86B00"/>
                </a:solidFill>
              </a:rPr>
              <a:t>4</a:t>
            </a:r>
          </a:p>
        </p:txBody>
      </p:sp>
      <p:sp>
        <p:nvSpPr>
          <p:cNvPr id="18" name="proof-title3">
            <a:extLst xmlns:a="http://schemas.openxmlformats.org/drawingml/2006/main">
              <a:ext uri="{FF2B5EF4-FFF2-40B4-BE49-F238E27FC236}">
                <a16:creationId xmlns:a16="http://schemas.microsoft.com/office/drawing/2014/main" id="{A32104AC-1D00-4F6B-B97A-24025C7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387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COST DISCIPLINE</a:t>
            </a:r>
          </a:p>
        </p:txBody>
      </p:sp>
      <p:sp>
        <p:nvSpPr>
          <p:cNvPr id="19" name="proof-copy3">
            <a:extLst xmlns:a="http://schemas.openxmlformats.org/drawingml/2006/main">
              <a:ext uri="{FF2B5EF4-FFF2-40B4-BE49-F238E27FC236}">
                <a16:creationId xmlns:a16="http://schemas.microsoft.com/office/drawing/2014/main" id="{537AB218-B863-4190-BB0F-04AE92FE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006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70"/>
                </a:solidFill>
              </a:defRPr>
            </a:pPr>
            <a:r>
              <a:rPr sz="1575" b="0">
                <a:solidFill>
                  <a:srgbClr val="526070"/>
                </a:solidFill>
              </a:rPr>
              <a:t>Serverless, on-demand resources and configurable Nova models keep idle cost near zero.</a:t>
            </a:r>
          </a:p>
        </p:txBody>
      </p:sp>
      <p:sp>
        <p:nvSpPr>
          <p:cNvPr id="20" name="production-note">
            <a:extLst xmlns:a="http://schemas.openxmlformats.org/drawingml/2006/main">
              <a:ext uri="{FF2B5EF4-FFF2-40B4-BE49-F238E27FC236}">
                <a16:creationId xmlns:a16="http://schemas.microsoft.com/office/drawing/2014/main" id="{DB413034-D623-4E47-870A-BD56584D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production-note-text">
            <a:extLst xmlns:a="http://schemas.openxmlformats.org/drawingml/2006/main">
              <a:ext uri="{FF2B5EF4-FFF2-40B4-BE49-F238E27FC236}">
                <a16:creationId xmlns:a16="http://schemas.microsoft.com/office/drawing/2014/main" id="{69A6024B-9AA1-459D-A884-41D5C589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Demo access is intentionally broad; production adds enterprise identity, tenant claims, durable approval audit, and retention controls.</a:t>
            </a:r>
          </a:p>
        </p:txBody>
      </p:sp>
    </p:spTree>
    <p:extLst>
      <p:ext uri="{BB962C8B-B14F-4D97-AF65-F5344CB8AC3E}">
        <p14:creationId xmlns:p14="http://schemas.microsoft.com/office/powerpoint/2010/main" val="12880799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59AECFC6-790B-4C32-BF25-E4356BF5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D3FC"/>
                </a:solidFill>
              </a:defRPr>
            </a:pPr>
            <a:r>
              <a:rPr sz="1275" b="1">
                <a:solidFill>
                  <a:srgbClr val="7DD3FC"/>
                </a:solidFill>
              </a:rPr>
              <a:t>PILARPREP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8B74BA0-48F0-4390-A6D1-10F9DD9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8382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Every customer conversation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becomes reusable context.</a:t>
            </a:r>
          </a:p>
        </p:txBody>
      </p:sp>
      <p:sp>
        <p:nvSpPr>
          <p:cNvPr id="3" name="close-sub">
            <a:extLst xmlns:a="http://schemas.openxmlformats.org/drawingml/2006/main">
              <a:ext uri="{FF2B5EF4-FFF2-40B4-BE49-F238E27FC236}">
                <a16:creationId xmlns:a16="http://schemas.microsoft.com/office/drawing/2014/main" id="{293C408E-741E-426D-A964-D2090E86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3EF"/>
                </a:solidFill>
              </a:defRPr>
            </a:pPr>
            <a:r>
              <a:rPr sz="1725" b="0">
                <a:solidFill>
                  <a:srgbClr val="D9E3EF"/>
                </a:solidFill>
              </a:rPr>
              <a:t>Better meetings today. Cleaner handoffs tomorrow. Faster confidence for everyone who joins later.</a:t>
            </a:r>
          </a:p>
        </p:txBody>
      </p:sp>
      <p:sp>
        <p:nvSpPr>
          <p:cNvPr id="4" name="close-pill0">
            <a:extLst xmlns:a="http://schemas.openxmlformats.org/drawingml/2006/main">
              <a:ext uri="{FF2B5EF4-FFF2-40B4-BE49-F238E27FC236}">
                <a16:creationId xmlns:a16="http://schemas.microsoft.com/office/drawing/2014/main" id="{6ECF4AB4-E128-41EF-A96B-E247E1DF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2457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6344D"/>
          </a:solidFill>
          <a:ln xmlns:a="http://schemas.openxmlformats.org/drawingml/2006/main" w="9525">
            <a:solidFill>
              <a:srgbClr val="43506A"/>
            </a:solidFill>
            <a:prstDash val="solid"/>
          </a:ln>
        </p:spPr>
      </p:sp>
      <p:sp>
        <p:nvSpPr>
          <p:cNvPr id="5" name="close-pill-text0">
            <a:extLst xmlns:a="http://schemas.openxmlformats.org/drawingml/2006/main">
              <a:ext uri="{FF2B5EF4-FFF2-40B4-BE49-F238E27FC236}">
                <a16:creationId xmlns:a16="http://schemas.microsoft.com/office/drawing/2014/main" id="{2C823A0D-D979-4468-B147-4EB6E904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Tailored AI briefs</a:t>
            </a:r>
          </a:p>
        </p:txBody>
      </p:sp>
      <p:sp>
        <p:nvSpPr>
          <p:cNvPr id="6" name="close-pill1">
            <a:extLst xmlns:a="http://schemas.openxmlformats.org/drawingml/2006/main">
              <a:ext uri="{FF2B5EF4-FFF2-40B4-BE49-F238E27FC236}">
                <a16:creationId xmlns:a16="http://schemas.microsoft.com/office/drawing/2014/main" id="{3AB4749A-2A83-43FD-822A-C1AEF72E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72000"/>
            <a:ext cx="2457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6344D"/>
          </a:solidFill>
          <a:ln xmlns:a="http://schemas.openxmlformats.org/drawingml/2006/main" w="9525">
            <a:solidFill>
              <a:srgbClr val="43506A"/>
            </a:solidFill>
            <a:prstDash val="solid"/>
          </a:ln>
        </p:spPr>
      </p:sp>
      <p:sp>
        <p:nvSpPr>
          <p:cNvPr id="7" name="close-pill-text1">
            <a:extLst xmlns:a="http://schemas.openxmlformats.org/drawingml/2006/main">
              <a:ext uri="{FF2B5EF4-FFF2-40B4-BE49-F238E27FC236}">
                <a16:creationId xmlns:a16="http://schemas.microsoft.com/office/drawing/2014/main" id="{74D309FC-877A-4287-8F53-C7269EC4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720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Governed project handoff</a:t>
            </a:r>
          </a:p>
        </p:txBody>
      </p:sp>
      <p:sp>
        <p:nvSpPr>
          <p:cNvPr id="8" name="close-pill2">
            <a:extLst xmlns:a="http://schemas.openxmlformats.org/drawingml/2006/main">
              <a:ext uri="{FF2B5EF4-FFF2-40B4-BE49-F238E27FC236}">
                <a16:creationId xmlns:a16="http://schemas.microsoft.com/office/drawing/2014/main" id="{F7B8AE4E-6862-49D2-BBFC-5BE4D132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2457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6344D"/>
          </a:solidFill>
          <a:ln xmlns:a="http://schemas.openxmlformats.org/drawingml/2006/main" w="9525">
            <a:solidFill>
              <a:srgbClr val="43506A"/>
            </a:solidFill>
            <a:prstDash val="solid"/>
          </a:ln>
        </p:spPr>
      </p:sp>
      <p:sp>
        <p:nvSpPr>
          <p:cNvPr id="9" name="close-pill-text2">
            <a:extLst xmlns:a="http://schemas.openxmlformats.org/drawingml/2006/main">
              <a:ext uri="{FF2B5EF4-FFF2-40B4-BE49-F238E27FC236}">
                <a16:creationId xmlns:a16="http://schemas.microsoft.com/office/drawing/2014/main" id="{9AFFB5F3-DD7D-4734-AD86-E5CA91C4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Role-aware catch-up</a:t>
            </a:r>
          </a:p>
        </p:txBody>
      </p:sp>
      <p:sp>
        <p:nvSpPr>
          <p:cNvPr id="10" name="url">
            <a:extLst xmlns:a="http://schemas.openxmlformats.org/drawingml/2006/main">
              <a:ext uri="{FF2B5EF4-FFF2-40B4-BE49-F238E27FC236}">
                <a16:creationId xmlns:a16="http://schemas.microsoft.com/office/drawing/2014/main" id="{348E2B68-65C2-4285-8D48-D5729EFA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D3FC"/>
                </a:solidFill>
              </a:defRPr>
            </a:pPr>
            <a:r>
              <a:rPr sz="1350" b="1">
                <a:solidFill>
                  <a:srgbClr val="7DD3FC"/>
                </a:solidFill>
              </a:rPr>
              <a:t>pilarprep.app</a:t>
            </a:r>
          </a:p>
        </p:txBody>
      </p:sp>
      <p:sp>
        <p:nvSpPr>
          <p:cNvPr id="11" name="questions">
            <a:extLst xmlns:a="http://schemas.openxmlformats.org/drawingml/2006/main">
              <a:ext uri="{FF2B5EF4-FFF2-40B4-BE49-F238E27FC236}">
                <a16:creationId xmlns:a16="http://schemas.microsoft.com/office/drawing/2014/main" id="{DEDAA91B-C416-426F-A4F6-A98CA1C2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483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75614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2026-08-14T16:32:58.9030000Z</dcterms:created>
  <dcterms:modified xsi:type="dcterms:W3CDTF">2026-08-14T16:32:58.9030000Z</dcterms:modified>
</coreProperties>
</file>