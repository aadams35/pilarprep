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17a86d9c7d473e" /><Relationship Type="http://schemas.openxmlformats.org/officeDocument/2006/relationships/extended-properties" Target="/docProps/app.xml" Id="R3ecc6e23927e4dab" /><Relationship Type="http://schemas.openxmlformats.org/officeDocument/2006/relationships/officeDocument" Target="/ppt/presentation.xml" Id="R3521d01a00674b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14e8581b44a60"/>
  </p:sldMasterIdLst>
  <p:notesMasterIdLst>
    <p:notesMasterId xmlns:r="http://schemas.openxmlformats.org/officeDocument/2006/relationships" r:id="R9c5b35295f4740fb"/>
  </p:notesMasterIdLst>
  <p:sldIdLst>
    <p:sldId xmlns:r="http://schemas.openxmlformats.org/officeDocument/2006/relationships" id="256" r:id="R10b2f9563ed741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a7fb235c6e4e5e" /><Relationship Type="http://schemas.openxmlformats.org/officeDocument/2006/relationships/slideMaster" Target="/ppt/slideMasters/slideMaster1.xml" Id="Ref914e8581b44a60" /><Relationship Type="http://schemas.openxmlformats.org/officeDocument/2006/relationships/notesMaster" Target="/ppt/notesMasters/notesMaster1.xml" Id="R9c5b35295f4740fb" /><Relationship Type="http://schemas.openxmlformats.org/officeDocument/2006/relationships/presProps" Target="/ppt/presProps.xml" Id="Rbd13ec40c87843e6" /><Relationship Type="http://schemas.openxmlformats.org/officeDocument/2006/relationships/tableStyles" Target="/ppt/tableStyles.xml" Id="R8970acaa981a45a1" /><Relationship Type="http://schemas.openxmlformats.org/officeDocument/2006/relationships/slide" Target="/ppt/slides/slide1.xml" Id="R10b2f9563ed741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a5de59076d4f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4b01878e5645d2" /><Relationship Type="http://schemas.openxmlformats.org/officeDocument/2006/relationships/notesMaster" Target="/ppt/notesMasters/notesMaster1.xml" Id="R68fad1d3243444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Sales and Solutions Architects often start from scattered context: account notes, stakeholder comments, assumptions, technical guesses, and a rough sense of what the customer cares about.</a:t>
            </a:r>
          </a:p>
          <a:p xmlns:a="http://schemas.openxmlformats.org/drawingml/2006/main">
            <a:r>
              <a:t>PilarPrep standardizes that context into a structured meeting packet. The user enters customer information, business objectives, known constraints, decision-maker notes, company values, and ranked AWS Well-Architected priorities.</a:t>
            </a:r>
          </a:p>
          <a:p xmlns:a="http://schemas.openxmlformats.org/drawingml/2006/main">
            <a:r>
              <a:t>The app then generates outputs a team can actually use: business scenario summary, technical brief, executive brief, discovery questions, objection prep, and an SA game plan.</a:t>
            </a:r>
          </a:p>
          <a:p xmlns:a="http://schemas.openxmlformats.org/drawingml/2006/main">
            <a:r>
              <a:t>The AWS architecture matters because this is not just a prompt demo. Bedrock generates the content, guardrails help keep outputs controlled, IAM governs access, SQS and Lambda process jobs reliably, DynamoDB tracks state, and S3 stores the latest packet.</a:t>
            </a:r>
          </a:p>
          <a:p xmlns:a="http://schemas.openxmlformats.org/drawingml/2006/main">
            <a:r>
              <a:t>The differentiator is that PilarPrep continues after the meeting with handoff and catch-up context, so delivery teams and new team members do not have to rediscover what was already learned.</a:t>
            </a:r>
          </a:p>
          <a:p xmlns:a="http://schemas.openxmlformats.org/drawingml/2006/main">
            <a:r>
              <a:t>[Sources] PilarPrep project context and local implementation details supplied in the working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c8f93579143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082e01601b4805" /><Relationship Type="http://schemas.openxmlformats.org/officeDocument/2006/relationships/slideLayout" Target="/ppt/slideLayouts/slideLayout1.xml" Id="R840db077c30049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0db077c30049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85fa6810d46c0" /><Relationship Type="http://schemas.openxmlformats.org/officeDocument/2006/relationships/notesSlide" Target="/ppt/notesSlides/notesSlide1.xml" Id="Rb7c9dc7966fc43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op-accent">
            <a:extLst xmlns:a="http://schemas.openxmlformats.org/drawingml/2006/main">
              <a:ext uri="{FF2B5EF4-FFF2-40B4-BE49-F238E27FC236}">
                <a16:creationId xmlns:a16="http://schemas.microsoft.com/office/drawing/2014/main" id="{FBB1C860-CAB8-4B30-968E-885A7475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2" name="navy-rule">
            <a:extLst xmlns:a="http://schemas.openxmlformats.org/drawingml/2006/main">
              <a:ext uri="{FF2B5EF4-FFF2-40B4-BE49-F238E27FC236}">
                <a16:creationId xmlns:a16="http://schemas.microsoft.com/office/drawing/2014/main" id="{0C7160B9-E672-4D70-827B-9BA3E61E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8F5B09A-CA15-4460-B684-DBE78168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THE SOLUTION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0C714E-6A12-4F94-9AA4-F0390DF6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PilarPrep bridges Sales discovery and SA-ready execution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E558A43-27DF-48EF-BD95-DD7A7A9B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A"/>
                </a:solidFill>
              </a:defRPr>
            </a:pPr>
            <a:r>
              <a:rPr sz="1500" b="0">
                <a:solidFill>
                  <a:srgbClr val="58657A"/>
                </a:solidFill>
              </a:rPr>
              <a:t>Customer context becomes a structured briefing, meeting plan, and implementation handoff.</a:t>
            </a:r>
          </a:p>
        </p:txBody>
      </p:sp>
      <p:sp>
        <p:nvSpPr>
          <p:cNvPr id="6" name="input-panel">
            <a:extLst xmlns:a="http://schemas.openxmlformats.org/drawingml/2006/main">
              <a:ext uri="{FF2B5EF4-FFF2-40B4-BE49-F238E27FC236}">
                <a16:creationId xmlns:a16="http://schemas.microsoft.com/office/drawing/2014/main" id="{B2FEBAEE-6FDB-409D-91F2-FF56F877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E6"/>
            </a:solidFill>
            <a:prstDash val="solid"/>
          </a:ln>
        </p:spPr>
      </p:sp>
      <p:sp>
        <p:nvSpPr>
          <p:cNvPr id="7" name="input-label">
            <a:extLst xmlns:a="http://schemas.openxmlformats.org/drawingml/2006/main">
              <a:ext uri="{FF2B5EF4-FFF2-40B4-BE49-F238E27FC236}">
                <a16:creationId xmlns:a16="http://schemas.microsoft.com/office/drawing/2014/main" id="{B1F748FA-22DA-46E2-9627-D205EC04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WHAT SALES KNOWS</a:t>
            </a:r>
          </a:p>
        </p:txBody>
      </p:sp>
      <p:sp>
        <p:nvSpPr>
          <p:cNvPr id="8" name="input-headline">
            <a:extLst xmlns:a="http://schemas.openxmlformats.org/drawingml/2006/main">
              <a:ext uri="{FF2B5EF4-FFF2-40B4-BE49-F238E27FC236}">
                <a16:creationId xmlns:a16="http://schemas.microsoft.com/office/drawing/2014/main" id="{014AA1E4-4078-4AA4-A4DA-8EBDDDB8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Scattered but valuable customer signal</a:t>
            </a:r>
          </a:p>
        </p:txBody>
      </p:sp>
      <p:sp>
        <p:nvSpPr>
          <p:cNvPr id="9" name="dot-Customer--in">
            <a:extLst xmlns:a="http://schemas.openxmlformats.org/drawingml/2006/main">
              <a:ext uri="{FF2B5EF4-FFF2-40B4-BE49-F238E27FC236}">
                <a16:creationId xmlns:a16="http://schemas.microsoft.com/office/drawing/2014/main" id="{B5843DF1-BC3A-4565-ABE0-FB8D8D9F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10" name="bullet-Customer--industry">
            <a:extLst xmlns:a="http://schemas.openxmlformats.org/drawingml/2006/main">
              <a:ext uri="{FF2B5EF4-FFF2-40B4-BE49-F238E27FC236}">
                <a16:creationId xmlns:a16="http://schemas.microsoft.com/office/drawing/2014/main" id="{FE1B8379-90DB-4549-B4A6-FC593C36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57A"/>
                </a:solidFill>
              </a:defRPr>
            </a:pPr>
            <a:r>
              <a:rPr sz="1200" b="0">
                <a:solidFill>
                  <a:srgbClr val="58657A"/>
                </a:solidFill>
              </a:rPr>
              <a:t>Customer, industry, meeting type</a:t>
            </a:r>
          </a:p>
        </p:txBody>
      </p:sp>
      <p:sp>
        <p:nvSpPr>
          <p:cNvPr id="11" name="dot-Business-obj">
            <a:extLst xmlns:a="http://schemas.openxmlformats.org/drawingml/2006/main">
              <a:ext uri="{FF2B5EF4-FFF2-40B4-BE49-F238E27FC236}">
                <a16:creationId xmlns:a16="http://schemas.microsoft.com/office/drawing/2014/main" id="{56F909D7-7190-4010-ACFE-6071AE9A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12" name="bullet-Business-objective">
            <a:extLst xmlns:a="http://schemas.openxmlformats.org/drawingml/2006/main">
              <a:ext uri="{FF2B5EF4-FFF2-40B4-BE49-F238E27FC236}">
                <a16:creationId xmlns:a16="http://schemas.microsoft.com/office/drawing/2014/main" id="{85EC4E35-8B8B-4C0E-B2D4-F8135931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57A"/>
                </a:solidFill>
              </a:defRPr>
            </a:pPr>
            <a:r>
              <a:rPr sz="1200" b="0">
                <a:solidFill>
                  <a:srgbClr val="58657A"/>
                </a:solidFill>
              </a:rPr>
              <a:t>Business objective and urgency</a:t>
            </a:r>
          </a:p>
        </p:txBody>
      </p:sp>
      <p:sp>
        <p:nvSpPr>
          <p:cNvPr id="13" name="dot-Ranked-AWS-W">
            <a:extLst xmlns:a="http://schemas.openxmlformats.org/drawingml/2006/main">
              <a:ext uri="{FF2B5EF4-FFF2-40B4-BE49-F238E27FC236}">
                <a16:creationId xmlns:a16="http://schemas.microsoft.com/office/drawing/2014/main" id="{60907216-7782-4DCE-B9C3-3B8DC7C0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14" name="bullet-Ranked-AWS-Well-Ar">
            <a:extLst xmlns:a="http://schemas.openxmlformats.org/drawingml/2006/main">
              <a:ext uri="{FF2B5EF4-FFF2-40B4-BE49-F238E27FC236}">
                <a16:creationId xmlns:a16="http://schemas.microsoft.com/office/drawing/2014/main" id="{3239F93E-F2D2-40D6-8426-CABF77CA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57A"/>
                </a:solidFill>
              </a:defRPr>
            </a:pPr>
            <a:r>
              <a:rPr sz="1200" b="0">
                <a:solidFill>
                  <a:srgbClr val="58657A"/>
                </a:solidFill>
              </a:rPr>
              <a:t>Ranked AWS Well-Architected pilars</a:t>
            </a:r>
          </a:p>
        </p:txBody>
      </p:sp>
      <p:sp>
        <p:nvSpPr>
          <p:cNvPr id="15" name="dot-Decision-mak">
            <a:extLst xmlns:a="http://schemas.openxmlformats.org/drawingml/2006/main">
              <a:ext uri="{FF2B5EF4-FFF2-40B4-BE49-F238E27FC236}">
                <a16:creationId xmlns:a16="http://schemas.microsoft.com/office/drawing/2014/main" id="{0F007E54-F932-49BB-A17A-ED1D822E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16" name="bullet-Decision-makers-an">
            <a:extLst xmlns:a="http://schemas.openxmlformats.org/drawingml/2006/main">
              <a:ext uri="{FF2B5EF4-FFF2-40B4-BE49-F238E27FC236}">
                <a16:creationId xmlns:a16="http://schemas.microsoft.com/office/drawing/2014/main" id="{903B5AAE-B960-42CE-9BB4-F1541895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57A"/>
                </a:solidFill>
              </a:defRPr>
            </a:pPr>
            <a:r>
              <a:rPr sz="1200" b="0">
                <a:solidFill>
                  <a:srgbClr val="58657A"/>
                </a:solidFill>
              </a:rPr>
              <a:t>Decision-makers and stakeholders</a:t>
            </a:r>
          </a:p>
        </p:txBody>
      </p:sp>
      <p:sp>
        <p:nvSpPr>
          <p:cNvPr id="17" name="dot-Constraints-">
            <a:extLst xmlns:a="http://schemas.openxmlformats.org/drawingml/2006/main">
              <a:ext uri="{FF2B5EF4-FFF2-40B4-BE49-F238E27FC236}">
                <a16:creationId xmlns:a16="http://schemas.microsoft.com/office/drawing/2014/main" id="{A950B04B-C493-4C9D-8DE4-ACA24AAC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18" name="bullet-Constraints--value">
            <a:extLst xmlns:a="http://schemas.openxmlformats.org/drawingml/2006/main">
              <a:ext uri="{FF2B5EF4-FFF2-40B4-BE49-F238E27FC236}">
                <a16:creationId xmlns:a16="http://schemas.microsoft.com/office/drawing/2014/main" id="{367F592C-DCEB-4149-AC59-33E50EF7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57A"/>
                </a:solidFill>
              </a:defRPr>
            </a:pPr>
            <a:r>
              <a:rPr sz="1200" b="0">
                <a:solidFill>
                  <a:srgbClr val="58657A"/>
                </a:solidFill>
              </a:rPr>
              <a:t>Constraints, values, and risks</a:t>
            </a:r>
          </a:p>
        </p:txBody>
      </p:sp>
      <p:sp>
        <p:nvSpPr>
          <p:cNvPr id="19" name="workflow-panel">
            <a:extLst xmlns:a="http://schemas.openxmlformats.org/drawingml/2006/main">
              <a:ext uri="{FF2B5EF4-FFF2-40B4-BE49-F238E27FC236}">
                <a16:creationId xmlns:a16="http://schemas.microsoft.com/office/drawing/2014/main" id="{177B37DC-7EB5-43F1-8954-57684E28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28800"/>
            <a:ext cx="3238500" cy="34861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172033"/>
            </a:solidFill>
            <a:prstDash val="solid"/>
          </a:ln>
        </p:spPr>
      </p:sp>
      <p:sp>
        <p:nvSpPr>
          <p:cNvPr id="20" name="workflow-label">
            <a:extLst xmlns:a="http://schemas.openxmlformats.org/drawingml/2006/main">
              <a:ext uri="{FF2B5EF4-FFF2-40B4-BE49-F238E27FC236}">
                <a16:creationId xmlns:a16="http://schemas.microsoft.com/office/drawing/2014/main" id="{FFA51E31-FC0F-4AA1-ACB9-5DC3FB8A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90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PILARPREP ON AWS</a:t>
            </a:r>
          </a:p>
        </p:txBody>
      </p:sp>
      <p:sp>
        <p:nvSpPr>
          <p:cNvPr id="21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E0CBBA82-6A12-4015-B572-1EDE268E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47950"/>
            <a:ext cx="243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Bedrock-powered briefing workflow</a:t>
            </a:r>
          </a:p>
        </p:txBody>
      </p:sp>
      <p:sp>
        <p:nvSpPr>
          <p:cNvPr id="22" name="workflow-caption">
            <a:extLst xmlns:a="http://schemas.openxmlformats.org/drawingml/2006/main">
              <a:ext uri="{FF2B5EF4-FFF2-40B4-BE49-F238E27FC236}">
                <a16:creationId xmlns:a16="http://schemas.microsoft.com/office/drawing/2014/main" id="{7196DB2A-84E5-488C-A609-2B6B16F0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52800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5DFEF"/>
                </a:solidFill>
              </a:defRPr>
            </a:pPr>
            <a:r>
              <a:rPr sz="1275" b="0">
                <a:solidFill>
                  <a:srgbClr val="D5DFEF"/>
                </a:solidFill>
              </a:rPr>
              <a:t>Guardrailed generation, context-aware refinement, saved packet and handoff creation.</a:t>
            </a:r>
          </a:p>
        </p:txBody>
      </p:sp>
      <p:sp>
        <p:nvSpPr>
          <p:cNvPr id="23" name="service-Bedrock">
            <a:extLst xmlns:a="http://schemas.openxmlformats.org/drawingml/2006/main">
              <a:ext uri="{FF2B5EF4-FFF2-40B4-BE49-F238E27FC236}">
                <a16:creationId xmlns:a16="http://schemas.microsoft.com/office/drawing/2014/main" id="{7F45CCC9-C489-4792-9F76-853F0CDB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71950"/>
            <a:ext cx="838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3044"/>
          </a:solidFill>
          <a:ln xmlns:a="http://schemas.openxmlformats.org/drawingml/2006/main" w="11430">
            <a:solidFill>
              <a:srgbClr val="39475D"/>
            </a:solidFill>
            <a:prstDash val="solid"/>
          </a:ln>
        </p:spPr>
      </p:sp>
      <p:sp>
        <p:nvSpPr>
          <p:cNvPr id="24" name="service-text-Bedrock">
            <a:extLst xmlns:a="http://schemas.openxmlformats.org/drawingml/2006/main">
              <a:ext uri="{FF2B5EF4-FFF2-40B4-BE49-F238E27FC236}">
                <a16:creationId xmlns:a16="http://schemas.microsoft.com/office/drawing/2014/main" id="{CB8BBDE9-5664-4357-B3A5-F11B2F20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386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Bedrock</a:t>
            </a:r>
          </a:p>
        </p:txBody>
      </p:sp>
      <p:sp>
        <p:nvSpPr>
          <p:cNvPr id="25" name="service-Guardrails">
            <a:extLst xmlns:a="http://schemas.openxmlformats.org/drawingml/2006/main">
              <a:ext uri="{FF2B5EF4-FFF2-40B4-BE49-F238E27FC236}">
                <a16:creationId xmlns:a16="http://schemas.microsoft.com/office/drawing/2014/main" id="{E1CD85F4-0AD2-4CE7-AB9A-224624EA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71950"/>
            <a:ext cx="914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3044"/>
          </a:solidFill>
          <a:ln xmlns:a="http://schemas.openxmlformats.org/drawingml/2006/main" w="11430">
            <a:solidFill>
              <a:srgbClr val="39475D"/>
            </a:solidFill>
            <a:prstDash val="solid"/>
          </a:ln>
        </p:spPr>
      </p:sp>
      <p:sp>
        <p:nvSpPr>
          <p:cNvPr id="26" name="service-text-Guardrails">
            <a:extLst xmlns:a="http://schemas.openxmlformats.org/drawingml/2006/main">
              <a:ext uri="{FF2B5EF4-FFF2-40B4-BE49-F238E27FC236}">
                <a16:creationId xmlns:a16="http://schemas.microsoft.com/office/drawing/2014/main" id="{FE77197B-3C0E-45CC-9216-5C1D9973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386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Guardrails</a:t>
            </a:r>
          </a:p>
        </p:txBody>
      </p:sp>
      <p:sp>
        <p:nvSpPr>
          <p:cNvPr id="27" name="service-IAM">
            <a:extLst xmlns:a="http://schemas.openxmlformats.org/drawingml/2006/main">
              <a:ext uri="{FF2B5EF4-FFF2-40B4-BE49-F238E27FC236}">
                <a16:creationId xmlns:a16="http://schemas.microsoft.com/office/drawing/2014/main" id="{6C31E3F7-CCA3-4489-B32B-2C98A83C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71950"/>
            <a:ext cx="571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3044"/>
          </a:solidFill>
          <a:ln xmlns:a="http://schemas.openxmlformats.org/drawingml/2006/main" w="11430">
            <a:solidFill>
              <a:srgbClr val="39475D"/>
            </a:solidFill>
            <a:prstDash val="solid"/>
          </a:ln>
        </p:spPr>
      </p:sp>
      <p:sp>
        <p:nvSpPr>
          <p:cNvPr id="28" name="service-text-IAM">
            <a:extLst xmlns:a="http://schemas.openxmlformats.org/drawingml/2006/main">
              <a:ext uri="{FF2B5EF4-FFF2-40B4-BE49-F238E27FC236}">
                <a16:creationId xmlns:a16="http://schemas.microsoft.com/office/drawing/2014/main" id="{A99158D1-765E-405D-A29B-41E15A7F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38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IAM</a:t>
            </a:r>
          </a:p>
        </p:txBody>
      </p:sp>
      <p:sp>
        <p:nvSpPr>
          <p:cNvPr id="29" name="service-SQS">
            <a:extLst xmlns:a="http://schemas.openxmlformats.org/drawingml/2006/main">
              <a:ext uri="{FF2B5EF4-FFF2-40B4-BE49-F238E27FC236}">
                <a16:creationId xmlns:a16="http://schemas.microsoft.com/office/drawing/2014/main" id="{824CFCC9-53BF-48DA-9558-68F35BA5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91050"/>
            <a:ext cx="5905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3044"/>
          </a:solidFill>
          <a:ln xmlns:a="http://schemas.openxmlformats.org/drawingml/2006/main" w="11430">
            <a:solidFill>
              <a:srgbClr val="39475D"/>
            </a:solidFill>
            <a:prstDash val="solid"/>
          </a:ln>
        </p:spPr>
      </p:sp>
      <p:sp>
        <p:nvSpPr>
          <p:cNvPr id="30" name="service-text-SQS">
            <a:extLst xmlns:a="http://schemas.openxmlformats.org/drawingml/2006/main">
              <a:ext uri="{FF2B5EF4-FFF2-40B4-BE49-F238E27FC236}">
                <a16:creationId xmlns:a16="http://schemas.microsoft.com/office/drawing/2014/main" id="{F0FF7783-E71F-4282-9775-6A55D1FA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577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SQS</a:t>
            </a:r>
          </a:p>
        </p:txBody>
      </p:sp>
      <p:sp>
        <p:nvSpPr>
          <p:cNvPr id="31" name="service-Lambda">
            <a:extLst xmlns:a="http://schemas.openxmlformats.org/drawingml/2006/main">
              <a:ext uri="{FF2B5EF4-FFF2-40B4-BE49-F238E27FC236}">
                <a16:creationId xmlns:a16="http://schemas.microsoft.com/office/drawing/2014/main" id="{5A9F703F-FE51-49DE-A20A-72EDA76D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91050"/>
            <a:ext cx="781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3044"/>
          </a:solidFill>
          <a:ln xmlns:a="http://schemas.openxmlformats.org/drawingml/2006/main" w="11430">
            <a:solidFill>
              <a:srgbClr val="39475D"/>
            </a:solidFill>
            <a:prstDash val="solid"/>
          </a:ln>
        </p:spPr>
      </p:sp>
      <p:sp>
        <p:nvSpPr>
          <p:cNvPr id="32" name="service-text-Lambda">
            <a:extLst xmlns:a="http://schemas.openxmlformats.org/drawingml/2006/main">
              <a:ext uri="{FF2B5EF4-FFF2-40B4-BE49-F238E27FC236}">
                <a16:creationId xmlns:a16="http://schemas.microsoft.com/office/drawing/2014/main" id="{4CD8BD4F-4BF2-481D-9C51-07D69362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577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Lambda</a:t>
            </a:r>
          </a:p>
        </p:txBody>
      </p:sp>
      <p:sp>
        <p:nvSpPr>
          <p:cNvPr id="33" name="service-DynamoDB">
            <a:extLst xmlns:a="http://schemas.openxmlformats.org/drawingml/2006/main">
              <a:ext uri="{FF2B5EF4-FFF2-40B4-BE49-F238E27FC236}">
                <a16:creationId xmlns:a16="http://schemas.microsoft.com/office/drawing/2014/main" id="{5D13FE7D-0E85-4CCB-A46A-51CFE89E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952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3044"/>
          </a:solidFill>
          <a:ln xmlns:a="http://schemas.openxmlformats.org/drawingml/2006/main" w="11430">
            <a:solidFill>
              <a:srgbClr val="39475D"/>
            </a:solidFill>
            <a:prstDash val="solid"/>
          </a:ln>
        </p:spPr>
      </p:sp>
      <p:sp>
        <p:nvSpPr>
          <p:cNvPr id="34" name="service-text-DynamoDB">
            <a:extLst xmlns:a="http://schemas.openxmlformats.org/drawingml/2006/main">
              <a:ext uri="{FF2B5EF4-FFF2-40B4-BE49-F238E27FC236}">
                <a16:creationId xmlns:a16="http://schemas.microsoft.com/office/drawing/2014/main" id="{CA9A2E4F-54A3-439C-AAD1-66635BBE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577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DynamoDB</a:t>
            </a:r>
          </a:p>
        </p:txBody>
      </p:sp>
      <p:sp>
        <p:nvSpPr>
          <p:cNvPr id="35" name="service-S3">
            <a:extLst xmlns:a="http://schemas.openxmlformats.org/drawingml/2006/main">
              <a:ext uri="{FF2B5EF4-FFF2-40B4-BE49-F238E27FC236}">
                <a16:creationId xmlns:a16="http://schemas.microsoft.com/office/drawing/2014/main" id="{D6804219-BE43-4DEF-A395-983D1E78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10150"/>
            <a:ext cx="5905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3044"/>
          </a:solidFill>
          <a:ln xmlns:a="http://schemas.openxmlformats.org/drawingml/2006/main" w="11430">
            <a:solidFill>
              <a:srgbClr val="39475D"/>
            </a:solidFill>
            <a:prstDash val="solid"/>
          </a:ln>
        </p:spPr>
      </p:sp>
      <p:sp>
        <p:nvSpPr>
          <p:cNvPr id="36" name="service-text-S3">
            <a:extLst xmlns:a="http://schemas.openxmlformats.org/drawingml/2006/main">
              <a:ext uri="{FF2B5EF4-FFF2-40B4-BE49-F238E27FC236}">
                <a16:creationId xmlns:a16="http://schemas.microsoft.com/office/drawing/2014/main" id="{31AE01F6-CD48-484E-9AC9-41CB7D66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768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37" name="arrow-input-to-workflow">
            <a:extLst xmlns:a="http://schemas.openxmlformats.org/drawingml/2006/main">
              <a:ext uri="{FF2B5EF4-FFF2-40B4-BE49-F238E27FC236}">
                <a16:creationId xmlns:a16="http://schemas.microsoft.com/office/drawing/2014/main" id="{49F6CC9C-FB99-4775-9027-62F9D993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528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38" name="arrow-workflow-to-output">
            <a:extLst xmlns:a="http://schemas.openxmlformats.org/drawingml/2006/main">
              <a:ext uri="{FF2B5EF4-FFF2-40B4-BE49-F238E27FC236}">
                <a16:creationId xmlns:a16="http://schemas.microsoft.com/office/drawing/2014/main" id="{F9F1D177-F019-435C-979E-5A3F7B36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528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39" name="output-panel">
            <a:extLst xmlns:a="http://schemas.openxmlformats.org/drawingml/2006/main">
              <a:ext uri="{FF2B5EF4-FFF2-40B4-BE49-F238E27FC236}">
                <a16:creationId xmlns:a16="http://schemas.microsoft.com/office/drawing/2014/main" id="{535DAE97-54DA-4954-8D84-454EB56B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33909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E6"/>
            </a:solidFill>
            <a:prstDash val="solid"/>
          </a:ln>
        </p:spPr>
      </p:sp>
      <p:sp>
        <p:nvSpPr>
          <p:cNvPr id="40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5196DEAC-A8DA-4475-9F42-B7B8EB66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WHAT THE TEAM USES</a:t>
            </a:r>
          </a:p>
        </p:txBody>
      </p:sp>
      <p:sp>
        <p:nvSpPr>
          <p:cNvPr id="41" name="output-headline">
            <a:extLst xmlns:a="http://schemas.openxmlformats.org/drawingml/2006/main">
              <a:ext uri="{FF2B5EF4-FFF2-40B4-BE49-F238E27FC236}">
                <a16:creationId xmlns:a16="http://schemas.microsoft.com/office/drawing/2014/main" id="{6DE8D059-00A2-4AB8-8A18-20734444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A packet built for the customer conversation</a:t>
            </a:r>
          </a:p>
        </p:txBody>
      </p:sp>
      <p:sp>
        <p:nvSpPr>
          <p:cNvPr id="42" name="dot-Business-cas">
            <a:extLst xmlns:a="http://schemas.openxmlformats.org/drawingml/2006/main">
              <a:ext uri="{FF2B5EF4-FFF2-40B4-BE49-F238E27FC236}">
                <a16:creationId xmlns:a16="http://schemas.microsoft.com/office/drawing/2014/main" id="{D9F5BF09-5935-46F2-A555-00CF7C77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43" name="bullet-Business-case-and-">
            <a:extLst xmlns:a="http://schemas.openxmlformats.org/drawingml/2006/main">
              <a:ext uri="{FF2B5EF4-FFF2-40B4-BE49-F238E27FC236}">
                <a16:creationId xmlns:a16="http://schemas.microsoft.com/office/drawing/2014/main" id="{C1EB4EA1-219D-485F-8759-5EEA05D2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57A"/>
                </a:solidFill>
              </a:defRPr>
            </a:pPr>
            <a:r>
              <a:rPr sz="1200" b="0">
                <a:solidFill>
                  <a:srgbClr val="58657A"/>
                </a:solidFill>
              </a:rPr>
              <a:t>Business case and desired outcomes</a:t>
            </a:r>
          </a:p>
        </p:txBody>
      </p:sp>
      <p:sp>
        <p:nvSpPr>
          <p:cNvPr id="44" name="dot-Technical-an">
            <a:extLst xmlns:a="http://schemas.openxmlformats.org/drawingml/2006/main">
              <a:ext uri="{FF2B5EF4-FFF2-40B4-BE49-F238E27FC236}">
                <a16:creationId xmlns:a16="http://schemas.microsoft.com/office/drawing/2014/main" id="{CAEC7428-8CF2-4632-946D-D4902DD9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45" name="bullet-Technical-and-exec">
            <a:extLst xmlns:a="http://schemas.openxmlformats.org/drawingml/2006/main">
              <a:ext uri="{FF2B5EF4-FFF2-40B4-BE49-F238E27FC236}">
                <a16:creationId xmlns:a16="http://schemas.microsoft.com/office/drawing/2014/main" id="{450F43F1-C54B-4A6D-BCA1-370475F0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04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57A"/>
                </a:solidFill>
              </a:defRPr>
            </a:pPr>
            <a:r>
              <a:rPr sz="1200" b="0">
                <a:solidFill>
                  <a:srgbClr val="58657A"/>
                </a:solidFill>
              </a:rPr>
              <a:t>Technical and executive briefs</a:t>
            </a:r>
          </a:p>
        </p:txBody>
      </p:sp>
      <p:sp>
        <p:nvSpPr>
          <p:cNvPr id="46" name="dot-Decision-mak">
            <a:extLst xmlns:a="http://schemas.openxmlformats.org/drawingml/2006/main">
              <a:ext uri="{FF2B5EF4-FFF2-40B4-BE49-F238E27FC236}">
                <a16:creationId xmlns:a16="http://schemas.microsoft.com/office/drawing/2014/main" id="{58C156F9-D42B-4D47-BB17-33E5B044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19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47" name="bullet-Decision-maker-len">
            <a:extLst xmlns:a="http://schemas.openxmlformats.org/drawingml/2006/main">
              <a:ext uri="{FF2B5EF4-FFF2-40B4-BE49-F238E27FC236}">
                <a16:creationId xmlns:a16="http://schemas.microsoft.com/office/drawing/2014/main" id="{4F671859-ABCF-4564-9E29-0F625E75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433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57A"/>
                </a:solidFill>
              </a:defRPr>
            </a:pPr>
            <a:r>
              <a:rPr sz="1200" b="0">
                <a:solidFill>
                  <a:srgbClr val="58657A"/>
                </a:solidFill>
              </a:rPr>
              <a:t>Decision-maker lens and questions</a:t>
            </a:r>
          </a:p>
        </p:txBody>
      </p:sp>
      <p:sp>
        <p:nvSpPr>
          <p:cNvPr id="48" name="dot-Objection-pr">
            <a:extLst xmlns:a="http://schemas.openxmlformats.org/drawingml/2006/main">
              <a:ext uri="{FF2B5EF4-FFF2-40B4-BE49-F238E27FC236}">
                <a16:creationId xmlns:a16="http://schemas.microsoft.com/office/drawing/2014/main" id="{AACF23D7-874B-4B73-B53E-E4723B24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49" name="bullet-Objection-prep-and">
            <a:extLst xmlns:a="http://schemas.openxmlformats.org/drawingml/2006/main">
              <a:ext uri="{FF2B5EF4-FFF2-40B4-BE49-F238E27FC236}">
                <a16:creationId xmlns:a16="http://schemas.microsoft.com/office/drawing/2014/main" id="{562BE90A-2157-4537-B412-BA519BF4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57A"/>
                </a:solidFill>
              </a:defRPr>
            </a:pPr>
            <a:r>
              <a:rPr sz="1200" b="0">
                <a:solidFill>
                  <a:srgbClr val="58657A"/>
                </a:solidFill>
              </a:rPr>
              <a:t>Objection prep and SA game plan</a:t>
            </a:r>
          </a:p>
        </p:txBody>
      </p:sp>
      <p:sp>
        <p:nvSpPr>
          <p:cNvPr id="50" name="dot-Handoff--cat">
            <a:extLst xmlns:a="http://schemas.openxmlformats.org/drawingml/2006/main">
              <a:ext uri="{FF2B5EF4-FFF2-40B4-BE49-F238E27FC236}">
                <a16:creationId xmlns:a16="http://schemas.microsoft.com/office/drawing/2014/main" id="{A665BE95-D760-4A71-B698-F2B80263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05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51" name="bullet-Handoff--catch-up-">
            <a:extLst xmlns:a="http://schemas.openxmlformats.org/drawingml/2006/main">
              <a:ext uri="{FF2B5EF4-FFF2-40B4-BE49-F238E27FC236}">
                <a16:creationId xmlns:a16="http://schemas.microsoft.com/office/drawing/2014/main" id="{073A5094-BD0D-425E-A7FB-E3596CFB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291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57A"/>
                </a:solidFill>
              </a:defRPr>
            </a:pPr>
            <a:r>
              <a:rPr sz="1200" b="0">
                <a:solidFill>
                  <a:srgbClr val="58657A"/>
                </a:solidFill>
              </a:rPr>
              <a:t>Handoff, catch-up, and DOCX export</a:t>
            </a:r>
          </a:p>
        </p:txBody>
      </p:sp>
      <p:sp>
        <p:nvSpPr>
          <p:cNvPr id="52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34F415D4-33FF-4391-912F-603A0067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53" name="takeaway">
            <a:extLst xmlns:a="http://schemas.openxmlformats.org/drawingml/2006/main">
              <a:ext uri="{FF2B5EF4-FFF2-40B4-BE49-F238E27FC236}">
                <a16:creationId xmlns:a16="http://schemas.microsoft.com/office/drawing/2014/main" id="{31A0E621-CF95-4C7B-84B1-BCA50F8C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91200"/>
            <a:ext cx="880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Not a generic company summary. PilarPrep creates a customer-specific meeting plan Sales, SAs, and delivery teams can act on.</a:t>
            </a:r>
          </a:p>
        </p:txBody>
      </p:sp>
      <p:sp>
        <p:nvSpPr>
          <p:cNvPr id="5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4A45063-6FC7-44FC-A5A8-6BD9D9B6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PILARPREP  •  AWS HACKATHON</a:t>
            </a:r>
          </a:p>
        </p:txBody>
      </p:sp>
      <p:sp>
        <p:nvSpPr>
          <p:cNvPr id="5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94417BB-B24D-49F5-94EE-DF68C2BC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798"/>
                </a:solidFill>
              </a:defRPr>
            </a:pPr>
            <a:r>
              <a:rPr sz="900" b="0">
                <a:solidFill>
                  <a:srgbClr val="7B879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4218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2026-08-16T15:09:57.4390000Z</dcterms:created>
  <dcterms:modified xsi:type="dcterms:W3CDTF">2026-08-16T15:09:57.4390000Z</dcterms:modified>
</coreProperties>
</file>