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ac8705491542a0" /><Relationship Type="http://schemas.openxmlformats.org/officeDocument/2006/relationships/extended-properties" Target="/docProps/app.xml" Id="R16a9525fab8c4728" /><Relationship Type="http://schemas.openxmlformats.org/officeDocument/2006/relationships/officeDocument" Target="/ppt/presentation.xml" Id="R11a6eaba1d04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c667cb3804d44"/>
  </p:sldMasterIdLst>
  <p:notesMasterIdLst>
    <p:notesMasterId xmlns:r="http://schemas.openxmlformats.org/officeDocument/2006/relationships" r:id="Rc4a707286439494a"/>
  </p:notesMasterIdLst>
  <p:sldIdLst>
    <p:sldId xmlns:r="http://schemas.openxmlformats.org/officeDocument/2006/relationships" id="256" r:id="Raed57e06dfc842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d08e93a544973" /><Relationship Type="http://schemas.openxmlformats.org/officeDocument/2006/relationships/slideMaster" Target="/ppt/slideMasters/slideMaster1.xml" Id="Rd9bc667cb3804d44" /><Relationship Type="http://schemas.openxmlformats.org/officeDocument/2006/relationships/notesMaster" Target="/ppt/notesMasters/notesMaster1.xml" Id="Rc4a707286439494a" /><Relationship Type="http://schemas.openxmlformats.org/officeDocument/2006/relationships/presProps" Target="/ppt/presProps.xml" Id="R569b0bc03ba04b1f" /><Relationship Type="http://schemas.openxmlformats.org/officeDocument/2006/relationships/tableStyles" Target="/ppt/tableStyles.xml" Id="R64eb1da25c4b480f" /><Relationship Type="http://schemas.openxmlformats.org/officeDocument/2006/relationships/slide" Target="/ppt/slides/slide1.xml" Id="Raed57e06dfc842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3a686f027048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8b2ad61ff4308" /><Relationship Type="http://schemas.openxmlformats.org/officeDocument/2006/relationships/notesMaster" Target="/ppt/notesMasters/notesMaster1.xml" Id="Rb64f0011b987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ad6f4e73743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c1ad87860a4a74" /><Relationship Type="http://schemas.openxmlformats.org/officeDocument/2006/relationships/slideLayout" Target="/ppt/slideLayouts/slideLayout1.xml" Id="R4ee1e51565fc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1e51565fc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7f3de936f41dd" /><Relationship Type="http://schemas.openxmlformats.org/officeDocument/2006/relationships/notesSlide" Target="/ppt/notesSlides/notesSlide1.xml" Id="R0885ab35212e40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7EC418-1914-4675-B5F7-B7CFC3F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A55"/>
                </a:solidFill>
              </a:defRPr>
            </a:pPr>
            <a:r>
              <a:rPr sz="900" b="1">
                <a:solidFill>
                  <a:srgbClr val="007A55"/>
                </a:solidFill>
              </a:rPr>
              <a:t>PILLARPREP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AF171-1F04-42DD-997B-C9BD15B2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From pre-meeting brief to reusable project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BF948-3D8D-4C24-9585-7328FB0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45556C"/>
                </a:solidFill>
              </a:defRPr>
            </a:pPr>
            <a:r>
              <a:rPr sz="1088">
                <a:solidFill>
                  <a:srgbClr val="45556C"/>
                </a:solidFill>
              </a:rPr>
              <a:t>AWS-native demo path: CloudFront hosted React, IAM-signed API calls, Lambda orchestration, Bedrock generation with guardrails, latest-only S3 artifacts, and DynamoDB project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74900-836B-4C46-A509-BB1A6C3B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55170-F6EF-4C9E-8F1F-A73ADDB6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4F4CF"/>
                </a:solidFill>
              </a:defRPr>
            </a:pPr>
            <a:r>
              <a:rPr sz="900" b="1">
                <a:solidFill>
                  <a:srgbClr val="A4F4CF"/>
                </a:solidFill>
              </a:rPr>
              <a:t>Demo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4423F-DF78-4FA7-BA58-1AC9B25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14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No API key in browser</a:t>
            </a:r>
          </a:p>
          <a:p xmlns:a="http://schemas.openxmlformats.org/drawingml/2006/main">
            <a:pPr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Latest DOCX saved in S3</a:t>
            </a:r>
          </a:p>
        </p:txBody>
      </p:sp>
      <p:sp>
        <p:nvSpPr>
          <p:cNvPr id="7" name="react">
            <a:extLst xmlns:a="http://schemas.openxmlformats.org/drawingml/2006/main">
              <a:ext uri="{FF2B5EF4-FFF2-40B4-BE49-F238E27FC236}">
                <a16:creationId xmlns:a16="http://schemas.microsoft.com/office/drawing/2014/main" id="{1657EF3E-4DEF-47E2-A628-3126A460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11430">
            <a:solidFill>
              <a:srgbClr val="B8E6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37498-1A14-4F6F-9861-663955C9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E4FE1-8307-442B-8FF3-D7925A6D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React Console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129F1-D7A8-4CB3-86B6-0133B9FF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SA enters client, meeting type, ranked Well-Architected priorities, notes, and decision-maker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BB5EC-9B1A-49E0-A41C-9044AE8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431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12" name="frontdoor">
            <a:extLst xmlns:a="http://schemas.openxmlformats.org/drawingml/2006/main">
              <a:ext uri="{FF2B5EF4-FFF2-40B4-BE49-F238E27FC236}">
                <a16:creationId xmlns:a16="http://schemas.microsoft.com/office/drawing/2014/main" id="{96959955-DB8A-4B59-A6DD-7F366414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955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F6965-3BB9-48D5-8D09-A42BCD5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288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79384-7E5A-4C03-BCB3-D347717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526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S3 + CloudFront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D2E7B-32E4-4F96-A42F-A259EBB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574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Static frontend delivery for the demo site with low daily cost and quick iteration.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3C9C6-13B0-43F6-BFEC-FF9FC37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431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17" name="auth">
            <a:extLst xmlns:a="http://schemas.openxmlformats.org/drawingml/2006/main">
              <a:ext uri="{FF2B5EF4-FFF2-40B4-BE49-F238E27FC236}">
                <a16:creationId xmlns:a16="http://schemas.microsoft.com/office/drawing/2014/main" id="{9E136B95-DA44-4BEF-AD74-7D0B9E6C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181D8-CA91-4BB5-BB3E-A97DBC28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37FD1-CAB0-42EA-9BC4-2093041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526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Cognito IAM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3176C-E45D-4A2F-90BC-8ED6F6D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574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Browser obtains scoped temporary credentials for non-public use; demo can stay public when needed.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05305-F05B-4E98-B2F4-48E0645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431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22" name="api">
            <a:extLst xmlns:a="http://schemas.openxmlformats.org/drawingml/2006/main">
              <a:ext uri="{FF2B5EF4-FFF2-40B4-BE49-F238E27FC236}">
                <a16:creationId xmlns:a16="http://schemas.microsoft.com/office/drawing/2014/main" id="{4DF23E31-A6BB-4564-8C5A-F558C61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955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34E63-B6FD-4730-B4AA-A873A5D4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5FFF"/>
          </a:solidFill>
          <a:ln xmlns:a="http://schemas.openxmlformats.org/drawingml/2006/main" w="0">
            <a:solidFill>
              <a:srgbClr val="615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08290-FC62-428B-9B37-F0B87032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526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API 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1B84B-8752-4998-BAAF-419FEB77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574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Receives IAM-signed brief requests and routes only valid traffic to the backend Lambda.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38D4D-FA5F-40D7-90C5-039CEB18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431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27" name="lambda">
            <a:extLst xmlns:a="http://schemas.openxmlformats.org/drawingml/2006/main">
              <a:ext uri="{FF2B5EF4-FFF2-40B4-BE49-F238E27FC236}">
                <a16:creationId xmlns:a16="http://schemas.microsoft.com/office/drawing/2014/main" id="{8769B439-1BFB-4653-AED0-A3026104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04283-1652-4E6A-B21E-3C18DF4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E37CC-8E73-4DDA-8E16-14607C10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526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Lambda Orchestrator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D075D-366B-428A-A274-17B0F46B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Builds the prompt contract, calls Bedrock, formats artifacts, and returns project-ready output.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CF083-9FEA-46F7-902E-3037337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431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32" name="bedrock">
            <a:extLst xmlns:a="http://schemas.openxmlformats.org/drawingml/2006/main">
              <a:ext uri="{FF2B5EF4-FFF2-40B4-BE49-F238E27FC236}">
                <a16:creationId xmlns:a16="http://schemas.microsoft.com/office/drawing/2014/main" id="{D9FA5EA7-6595-44AC-B0F8-C7FCA053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95500"/>
            <a:ext cx="1504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A812A-91A9-4640-BADB-7B26793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2288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solidFill>
              <a:srgbClr val="007A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EACEAD-DAF8-47E0-9BFF-68E2A2DB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3526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Bedrock + Guardrails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B47594-D920-4369-9859-B83D69AA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6574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Managed GenAI creates technical and executive briefs while guardrails reduce risky output.</a:t>
            </a:r>
          </a:p>
        </p:txBody>
      </p:sp>
      <p:sp>
        <p:nvSpPr>
          <p:cNvPr id="36" name="json-docx">
            <a:extLst xmlns:a="http://schemas.openxmlformats.org/drawingml/2006/main">
              <a:ext uri="{FF2B5EF4-FFF2-40B4-BE49-F238E27FC236}">
                <a16:creationId xmlns:a16="http://schemas.microsoft.com/office/drawing/2014/main" id="{76A05D29-A324-4761-821F-70E7EA5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14750"/>
            <a:ext cx="2362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B19C1B-FE7F-418D-90C0-2E0C6F7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481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D2A720-5549-4B34-863D-B0E46991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719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S3 artifacts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098075-FD05-45A4-85BF-7A7400D9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Each run stores one latest JSON packet and one latest DOCX brief per client, replacing older versions to control cost and clutter.</a:t>
            </a:r>
          </a:p>
        </p:txBody>
      </p:sp>
      <p:sp>
        <p:nvSpPr>
          <p:cNvPr id="40" name="state">
            <a:extLst xmlns:a="http://schemas.openxmlformats.org/drawingml/2006/main">
              <a:ext uri="{FF2B5EF4-FFF2-40B4-BE49-F238E27FC236}">
                <a16:creationId xmlns:a16="http://schemas.microsoft.com/office/drawing/2014/main" id="{3D529ED5-C4D9-4E26-95B7-9790D8A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2362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92FDE-EB53-4C19-9F42-9F0EAC3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CC7782-6F80-4484-A882-DA35BFEE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719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DynamoDB project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985509-81E5-4081-9AD8-44992D98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7672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Tracks BRIEF#LATEST plus client/project identifiers so project members can continue from the same brief context.</a:t>
            </a:r>
          </a:p>
        </p:txBody>
      </p:sp>
      <p:sp>
        <p:nvSpPr>
          <p:cNvPr id="44" name="ops">
            <a:extLst xmlns:a="http://schemas.openxmlformats.org/drawingml/2006/main">
              <a:ext uri="{FF2B5EF4-FFF2-40B4-BE49-F238E27FC236}">
                <a16:creationId xmlns:a16="http://schemas.microsoft.com/office/drawing/2014/main" id="{A1D315EC-FF8B-4CC9-ABFF-FCBF540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2362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4EF9B8-D7CD-4D98-BEB6-04D15D6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0C7DE7-BBDB-4E48-A1BC-250106E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719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CloudWatch + budget posture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CEDD2F-CCE3-40AB-8C75-5182CDF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5556C"/>
                </a:solidFill>
              </a:defRPr>
            </a:pPr>
            <a:r>
              <a:rPr sz="863">
                <a:solidFill>
                  <a:srgbClr val="45556C"/>
                </a:solidFill>
              </a:rPr>
              <a:t>Logs, latency, token metadata, and a low-cost serverless footprint support demo reliability and judge questions.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9A4A95-8A70-492E-9D94-1D1371C1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CD862B-7141-4BE2-A5B4-CCAABDB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052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74888A-BB7E-4452-A098-4F836DB3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052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solidFill>
              <a:srgbClr val="90A1B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B5B9EF-9542-4685-802D-B7EE3FB0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87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0">
            <a:solidFill>
              <a:srgbClr val="0F172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26BA32-40C6-4ADD-9886-28B6A578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4F4CF"/>
                </a:solidFill>
              </a:defRPr>
            </a:pPr>
            <a:r>
              <a:rPr sz="1050" b="1">
                <a:solidFill>
                  <a:srgbClr val="A4F4CF"/>
                </a:solidFill>
              </a:rPr>
              <a:t>Why this wins recruiter and judge attention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F4AD55-E3D8-4D68-823F-5541F9D9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Clear business problem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E86845-51D5-4A58-82CF-07FBEB5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Actual AWS services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13F65A-EBB9-4F81-9878-F78471A8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Working GenAI demo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CB0CA3-2682-48E6-B814-80ADE3E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05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Reusable handoff artifact</a:t>
            </a:r>
          </a:p>
        </p:txBody>
      </p:sp>
    </p:spTree>
    <p:extLst>
      <p:ext uri="{BB962C8B-B14F-4D97-AF65-F5344CB8AC3E}">
        <p14:creationId xmlns:p14="http://schemas.microsoft.com/office/powerpoint/2010/main" val="1081635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2026-08-11T22:36:21.2860000Z</dcterms:created>
  <dcterms:modified xsi:type="dcterms:W3CDTF">2026-08-11T22:36:21.2860000Z</dcterms:modified>
</coreProperties>
</file>